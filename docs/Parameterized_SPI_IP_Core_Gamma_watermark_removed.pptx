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Caladea Bold"/>
      <p:regular r:id="rId201314"/>
    </p:embeddedFont>
    <p:embeddedFont>
      <p:font typeface="Carlito"/>
      <p:regular r:id="rId201315"/>
    </p:embeddedFont>
    <p:embeddedFont>
      <p:font typeface="Carlito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99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1695" cy="6858099"/>
          </a:xfrm>
          <a:prstGeom prst="rect">
            <a:avLst/>
          </a:prstGeom>
          <a:solidFill>
            <a:srgbClr val="0B1D3A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69928" y="965200"/>
            <a:ext cx="11080473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59" kern="0" dirty="0">
                <a:solidFill>
                  <a:srgbClr val="3EEBD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VLSI MINI PROJECT · RTL/DV SYNOPSIS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69928" y="1188145"/>
            <a:ext cx="9861303" cy="640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Parameterized SPI IP Core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869928" y="2012355"/>
            <a:ext cx="11080473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i="1" dirty="0">
                <a:solidFill>
                  <a:srgbClr val="CADC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RTL Design, SystemVerilog Verification and FPGA Characterization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69928" y="3605609"/>
            <a:ext cx="9537461" cy="792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3EEBD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Team</a:t>
            </a:r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Mohammad Yasir (1BF24EC078) • Paladugala Ajay Kumar (1BF24EC099) • Palreddigari Navadeep Kumar Reddy (1BF24EC100) • Lokesha  NN (1BM25EC424)</a:t>
            </a:r>
            <a:endParaRPr lang="en-US" sz="13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 </a:t>
            </a:r>
            <a:endParaRPr lang="en-US" sz="13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3EEBD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Guide</a:t>
            </a:r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Mr. Ajay Kumar D · Assistant Professor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69928" y="4529931"/>
            <a:ext cx="9537461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9FB3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B.M.S. College of Engineering, Bengaluru</a:t>
            </a:r>
            <a:endParaRPr lang="en-US" sz="11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9FB3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Department of Electronics &amp; Communication Engineering</a:t>
            </a:r>
            <a:endParaRPr lang="en-US" sz="11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9FB3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Academic Year 2026–27 · Mini Project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869928" y="6375499"/>
            <a:ext cx="9937501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9FB3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Parameterized SPI IP Core · BMSCE ECE · 2026–27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90535" y="368300"/>
            <a:ext cx="9937501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59" kern="0" dirty="0">
                <a:solidFill>
                  <a:srgbClr val="3EEBD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01 — OVERVIEW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90535" y="591245"/>
            <a:ext cx="8718332" cy="441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SPI Connects Digital Devices</a:t>
            </a:r>
            <a:endParaRPr lang="en-US" sz="2900" dirty="0"/>
          </a:p>
        </p:txBody>
      </p:sp>
      <p:sp>
        <p:nvSpPr>
          <p:cNvPr id="5" name="Shape 2"/>
          <p:cNvSpPr/>
          <p:nvPr/>
        </p:nvSpPr>
        <p:spPr>
          <a:xfrm>
            <a:off x="609585" y="1574800"/>
            <a:ext cx="5105272" cy="3937099"/>
          </a:xfrm>
          <a:prstGeom prst="roundRect">
            <a:avLst>
              <a:gd name="adj" fmla="val 2322"/>
            </a:avLst>
          </a:prstGeom>
          <a:solidFill>
            <a:srgbClr val="142C4F"/>
          </a:solidFill>
          <a:ln/>
        </p:spPr>
      </p:sp>
      <p:sp>
        <p:nvSpPr>
          <p:cNvPr id="6" name="Text 3"/>
          <p:cNvSpPr/>
          <p:nvPr/>
        </p:nvSpPr>
        <p:spPr>
          <a:xfrm>
            <a:off x="888978" y="1803400"/>
            <a:ext cx="5708507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3EEBD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MASTER / SLAVE PROTOCOL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88978" y="2152650"/>
            <a:ext cx="4639154" cy="365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SPI is synchronous serial communication between a controller and one or more peripherals.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88978" y="2697460"/>
            <a:ext cx="5708507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3EEBD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FOUR CORE SIGNALS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88978" y="3046512"/>
            <a:ext cx="4588951" cy="365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SCLK clock · MOSI Master-to-Slave · MISO Slave-to-Master · CS/SS selects the active Slave.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88978" y="3591421"/>
            <a:ext cx="5708507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3EEBD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FULL DUPLEX, FOUR MODES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88978" y="3954463"/>
            <a:ext cx="5957242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Simultaneous send/receive; CPOL and CPHA define four clocking modes.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88978" y="4302423"/>
            <a:ext cx="5708507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3EEBD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WHY PARAMETERIZE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88978" y="4651673"/>
            <a:ext cx="4489338" cy="365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width, clock settings and slave configurations should adapt without rewriting the RTL.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832429" y="1803400"/>
            <a:ext cx="1828754" cy="711200"/>
          </a:xfrm>
          <a:prstGeom prst="roundRect">
            <a:avLst>
              <a:gd name="adj" fmla="val 12857"/>
            </a:avLst>
          </a:prstGeom>
          <a:solidFill>
            <a:srgbClr val="3EEBD0"/>
          </a:solidFill>
          <a:ln/>
        </p:spPr>
      </p:sp>
      <p:sp>
        <p:nvSpPr>
          <p:cNvPr id="15" name="Text 12"/>
          <p:cNvSpPr/>
          <p:nvPr/>
        </p:nvSpPr>
        <p:spPr>
          <a:xfrm>
            <a:off x="6324442" y="2052439"/>
            <a:ext cx="2844729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MASTER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 rot="66000">
            <a:off x="8660985" y="2159000"/>
            <a:ext cx="1320965" cy="25400"/>
          </a:xfrm>
          <a:prstGeom prst="rect">
            <a:avLst/>
          </a:prstGeom>
          <a:solidFill>
            <a:srgbClr val="3EEBD0"/>
          </a:solidFill>
          <a:ln/>
        </p:spPr>
      </p:sp>
      <p:sp>
        <p:nvSpPr>
          <p:cNvPr id="17" name="Text 14"/>
          <p:cNvSpPr/>
          <p:nvPr/>
        </p:nvSpPr>
        <p:spPr>
          <a:xfrm>
            <a:off x="8946926" y="2159000"/>
            <a:ext cx="1809705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EEBD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MOSI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 rot="66000">
            <a:off x="8660985" y="2413000"/>
            <a:ext cx="1320965" cy="25400"/>
          </a:xfrm>
          <a:prstGeom prst="rect">
            <a:avLst/>
          </a:prstGeom>
          <a:solidFill>
            <a:srgbClr val="3EEBD0"/>
          </a:solidFill>
          <a:ln/>
        </p:spPr>
      </p:sp>
      <p:sp>
        <p:nvSpPr>
          <p:cNvPr id="19" name="Text 16"/>
          <p:cNvSpPr/>
          <p:nvPr/>
        </p:nvSpPr>
        <p:spPr>
          <a:xfrm>
            <a:off x="8946926" y="2413000"/>
            <a:ext cx="1809705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EEBD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MISO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 rot="66000">
            <a:off x="8660985" y="2667099"/>
            <a:ext cx="1320965" cy="25400"/>
          </a:xfrm>
          <a:prstGeom prst="rect">
            <a:avLst/>
          </a:prstGeom>
          <a:solidFill>
            <a:srgbClr val="3EEBD0"/>
          </a:solidFill>
          <a:ln/>
        </p:spPr>
      </p:sp>
      <p:sp>
        <p:nvSpPr>
          <p:cNvPr id="21" name="Text 18"/>
          <p:cNvSpPr/>
          <p:nvPr/>
        </p:nvSpPr>
        <p:spPr>
          <a:xfrm>
            <a:off x="8946926" y="2667099"/>
            <a:ext cx="1809705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EEBD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CS/SS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 rot="66000">
            <a:off x="8660985" y="2921099"/>
            <a:ext cx="1320965" cy="25400"/>
          </a:xfrm>
          <a:prstGeom prst="rect">
            <a:avLst/>
          </a:prstGeom>
          <a:solidFill>
            <a:srgbClr val="3EEBD0"/>
          </a:solidFill>
          <a:ln/>
        </p:spPr>
      </p:sp>
      <p:sp>
        <p:nvSpPr>
          <p:cNvPr id="23" name="Text 20"/>
          <p:cNvSpPr/>
          <p:nvPr/>
        </p:nvSpPr>
        <p:spPr>
          <a:xfrm>
            <a:off x="8946926" y="1905000"/>
            <a:ext cx="1809705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EEBD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SCLK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10032749" y="1892300"/>
            <a:ext cx="1219170" cy="482600"/>
          </a:xfrm>
          <a:prstGeom prst="roundRect">
            <a:avLst>
              <a:gd name="adj" fmla="val 15158"/>
            </a:avLst>
          </a:prstGeom>
          <a:solidFill>
            <a:srgbClr val="33404D"/>
          </a:solidFill>
          <a:ln/>
        </p:spPr>
      </p:sp>
      <p:sp>
        <p:nvSpPr>
          <p:cNvPr id="25" name="Text 22"/>
          <p:cNvSpPr/>
          <p:nvPr/>
        </p:nvSpPr>
        <p:spPr>
          <a:xfrm>
            <a:off x="9473963" y="2057400"/>
            <a:ext cx="233674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SLAVE 0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10032749" y="2565499"/>
            <a:ext cx="1219170" cy="482600"/>
          </a:xfrm>
          <a:prstGeom prst="roundRect">
            <a:avLst>
              <a:gd name="adj" fmla="val 15158"/>
            </a:avLst>
          </a:prstGeom>
          <a:solidFill>
            <a:srgbClr val="33404D"/>
          </a:solidFill>
          <a:ln/>
        </p:spPr>
      </p:sp>
      <p:sp>
        <p:nvSpPr>
          <p:cNvPr id="27" name="Text 24"/>
          <p:cNvSpPr/>
          <p:nvPr/>
        </p:nvSpPr>
        <p:spPr>
          <a:xfrm>
            <a:off x="9473963" y="2730599"/>
            <a:ext cx="233674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SLAVE 1…N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6603835" y="3810099"/>
            <a:ext cx="4571886" cy="1168400"/>
          </a:xfrm>
          <a:prstGeom prst="roundRect">
            <a:avLst>
              <a:gd name="adj" fmla="val 7826"/>
            </a:avLst>
          </a:prstGeom>
          <a:solidFill>
            <a:srgbClr val="33404D"/>
          </a:solidFill>
          <a:ln/>
        </p:spPr>
      </p:sp>
      <p:sp>
        <p:nvSpPr>
          <p:cNvPr id="29" name="Text 26"/>
          <p:cNvSpPr/>
          <p:nvPr/>
        </p:nvSpPr>
        <p:spPr>
          <a:xfrm>
            <a:off x="6832429" y="3987899"/>
            <a:ext cx="5276718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3EEBD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CLOCK MODE STRIP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6832429" y="4320480"/>
            <a:ext cx="5276718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CPOL + CPHA → Mode 0 | 1 | 2 | 3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666733" y="5791299"/>
            <a:ext cx="11524962" cy="175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3EEBD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Project motivation: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Combine configurable RTL, systematic SystemVerilog verification and FPGA characterization in one coherent flow.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547178" y="6614616"/>
            <a:ext cx="3596490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B7A8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Parameterized SPI IP Core · BMSCE ECE · 2026–27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90535" y="368300"/>
            <a:ext cx="9937501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59" kern="0" dirty="0">
                <a:solidFill>
                  <a:srgbClr val="3EEBD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02 — PRIOR WORK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90535" y="592534"/>
            <a:ext cx="8718332" cy="441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Literature Survey</a:t>
            </a:r>
            <a:endParaRPr lang="en-US" sz="2900" dirty="0"/>
          </a:p>
        </p:txBody>
      </p:sp>
      <p:sp>
        <p:nvSpPr>
          <p:cNvPr id="5" name="Shape 2"/>
          <p:cNvSpPr/>
          <p:nvPr/>
        </p:nvSpPr>
        <p:spPr>
          <a:xfrm>
            <a:off x="546086" y="1473200"/>
            <a:ext cx="11099522" cy="3810099"/>
          </a:xfrm>
          <a:prstGeom prst="roundRect">
            <a:avLst>
              <a:gd name="adj" fmla="val 1920"/>
            </a:avLst>
          </a:prstGeom>
          <a:solidFill>
            <a:srgbClr val="142C4F"/>
          </a:solidFill>
          <a:ln/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6086" y="1473200"/>
          <a:ext cx="9143771" cy="914400"/>
        </p:xfrm>
        <a:graphic>
          <a:graphicData uri="http://schemas.openxmlformats.org/drawingml/2006/table">
            <a:tbl>
              <a:tblPr/>
              <a:tblGrid>
                <a:gridCol w="3218862"/>
                <a:gridCol w="4772795"/>
                <a:gridCol w="3107866"/>
              </a:tblGrid>
              <a:tr h="35529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Work</a:t>
                      </a:r>
                      <a:endParaRPr lang="en-US" sz="105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71446" marR="171446" marT="91311" marB="91311" anchor="ctr">
                    <a:lnL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0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Contribution</a:t>
                      </a:r>
                      <a:endParaRPr lang="en-US" sz="105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71446" marR="171446" marT="91311" marB="91311" anchor="ctr">
                    <a:lnL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0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Relevance to This Project</a:t>
                      </a:r>
                      <a:endParaRPr lang="en-US" sz="105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71446" marR="171446" marT="91311" marB="91311" anchor="ctr">
                    <a:lnL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04D"/>
                    </a:solidFill>
                  </a:tcPr>
                </a:tc>
              </a:tr>
              <a:tr h="3249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Single Master Multiple Slave SPI on FPGA — IEEE ICAEE, 2024</a:t>
                      </a:r>
                      <a:endParaRPr lang="en-US" sz="85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71446" marR="171446" marT="91311" marB="91311" anchor="ctr">
                    <a:lnL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ADCFC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Verilog multi-slave SPI with FSM control, simulation and FPGA implementation.</a:t>
                      </a:r>
                      <a:endParaRPr lang="en-US" sz="85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71446" marR="171446" marT="91311" marB="91311" anchor="ctr">
                    <a:lnL w="12700" cap="flat" cmpd="sng" algn="ctr">
                      <a:solidFill>
                        <a:srgbClr val="0B1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ADCFC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Baseline Master/Slave and multi-slave architecture.</a:t>
                      </a:r>
                      <a:endParaRPr lang="en-US" sz="85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71446" marR="171446" marT="91311" marB="91311" anchor="ctr">
                    <a:lnL w="12700" cap="flat" cmpd="sng" algn="ctr">
                      <a:solidFill>
                        <a:srgbClr val="0B1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9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Lightweight SPI Master IP for Low Cost FPGAs</a:t>
                      </a:r>
                      <a:endParaRPr lang="en-US" sz="85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71446" marR="171446" marT="91311" marB="91311" anchor="ctr">
                    <a:lnL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ADCFC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Resource-conscious configurable clock, CPOL/CPHA and FPGA resource evaluation.</a:t>
                      </a:r>
                      <a:endParaRPr lang="en-US" sz="85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71446" marR="171446" marT="91311" marB="91311" anchor="ctr">
                    <a:lnL w="12700" cap="flat" cmpd="sng" algn="ctr">
                      <a:solidFill>
                        <a:srgbClr val="0B1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ADCFC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Motivates parameterization and hardware characterization.</a:t>
                      </a:r>
                      <a:endParaRPr lang="en-US" sz="85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71446" marR="171446" marT="91311" marB="91311" anchor="ctr">
                    <a:lnL w="12700" cap="flat" cmpd="sng" algn="ctr">
                      <a:solidFill>
                        <a:srgbClr val="0B1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43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SystemVerilog Verification Environment for SPI Master — ICSP, 2012</a:t>
                      </a:r>
                      <a:endParaRPr lang="en-US" sz="85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71446" marR="171446" marT="91311" marB="91311" anchor="ctr">
                    <a:lnL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ADCFC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Driver, slave model, scoreboard, assertions, constrained-random tests and coverage.</a:t>
                      </a:r>
                      <a:endParaRPr lang="en-US" sz="85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71446" marR="171446" marT="91311" marB="91311" anchor="ctr">
                    <a:lnL w="12700" cap="flat" cmpd="sng" algn="ctr">
                      <a:solidFill>
                        <a:srgbClr val="0B1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ADCFC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Supports the structured verification methodology.</a:t>
                      </a:r>
                      <a:endParaRPr lang="en-US" sz="85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71446" marR="171446" marT="91311" marB="91311" anchor="ctr">
                    <a:lnL w="12700" cap="flat" cmpd="sng" algn="ctr">
                      <a:solidFill>
                        <a:srgbClr val="0B1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9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General-Purpose SPI Master/Slave IPs on OPB Bus</a:t>
                      </a:r>
                      <a:endParaRPr lang="en-US" sz="85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71446" marR="171446" marT="91311" marB="91311" anchor="ctr">
                    <a:lnL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ADCFC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Configurable technology-independent Master/Slave IP and FPGA implementation.</a:t>
                      </a:r>
                      <a:endParaRPr lang="en-US" sz="85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71446" marR="171446" marT="91311" marB="91311" anchor="ctr">
                    <a:lnL w="12700" cap="flat" cmpd="sng" algn="ctr">
                      <a:solidFill>
                        <a:srgbClr val="0B1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ADCFC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Established configurable IP approach.</a:t>
                      </a:r>
                      <a:endParaRPr lang="en-US" sz="85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71446" marR="171446" marT="91311" marB="91311" anchor="ctr">
                    <a:lnL w="12700" cap="flat" cmpd="sng" algn="ctr">
                      <a:solidFill>
                        <a:srgbClr val="0B1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9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Universal Multiple Devices SPI Interface</a:t>
                      </a:r>
                      <a:endParaRPr lang="en-US" sz="85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71446" marR="171446" marT="91311" marB="91311" anchor="ctr">
                    <a:lnL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ADCFC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Parameterized device selection and multi-device control.</a:t>
                      </a:r>
                      <a:endParaRPr lang="en-US" sz="85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71446" marR="171446" marT="91311" marB="91311" anchor="ctr">
                    <a:lnL w="12700" cap="flat" cmpd="sng" algn="ctr">
                      <a:solidFill>
                        <a:srgbClr val="0B1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ADCFC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Background for scalable slave selection.</a:t>
                      </a:r>
                      <a:endParaRPr lang="en-US" sz="85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71446" marR="171446" marT="91311" marB="91311" anchor="ctr">
                    <a:lnL w="12700" cap="flat" cmpd="sng" algn="ctr">
                      <a:solidFill>
                        <a:srgbClr val="0B1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9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SPI Bus on FPGA Using State Machine Method — JPCS, 2020</a:t>
                      </a:r>
                      <a:endParaRPr lang="en-US" sz="85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71446" marR="171446" marT="91311" marB="91311" anchor="ctr">
                    <a:lnL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ADCFC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State-machine implementation with SPI timing-mode considerations.</a:t>
                      </a:r>
                      <a:endParaRPr lang="en-US" sz="85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71446" marR="171446" marT="91311" marB="91311" anchor="ctr">
                    <a:lnL w="12700" cap="flat" cmpd="sng" algn="ctr">
                      <a:solidFill>
                        <a:srgbClr val="0B1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ADCFC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Supports FSM-based RTL and FPGA implementation.</a:t>
                      </a:r>
                      <a:endParaRPr lang="en-US" sz="85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71446" marR="171446" marT="91311" marB="91311" anchor="ctr">
                    <a:lnL w="12700" cap="flat" cmpd="sng" algn="ctr">
                      <a:solidFill>
                        <a:srgbClr val="0B1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23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Design and Verification of SPI Bus IP Core — JPCS, 2021</a:t>
                      </a:r>
                      <a:endParaRPr lang="en-US" sz="85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71446" marR="171446" marT="91311" marB="91311" anchor="ctr">
                    <a:lnL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ADCFC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IP development, structured verification and multiple timing modes.</a:t>
                      </a:r>
                      <a:endParaRPr lang="en-US" sz="85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71446" marR="171446" marT="91311" marB="91311" anchor="ctr">
                    <a:lnL w="12700" cap="flat" cmpd="sng" algn="ctr">
                      <a:solidFill>
                        <a:srgbClr val="0B1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ADCFC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Supports IP-oriented design and verification.</a:t>
                      </a:r>
                      <a:endParaRPr lang="en-US" sz="85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71446" marR="171446" marT="91311" marB="91311" anchor="ctr">
                    <a:lnL w="12700" cap="flat" cmpd="sng" algn="ctr">
                      <a:solidFill>
                        <a:srgbClr val="0B1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6086" y="5651599"/>
            <a:ext cx="11099522" cy="584200"/>
          </a:xfrm>
          <a:prstGeom prst="roundRect">
            <a:avLst>
              <a:gd name="adj" fmla="val 12521"/>
            </a:avLst>
          </a:prstGeom>
          <a:solidFill>
            <a:srgbClr val="EAF9F6"/>
          </a:solidFill>
          <a:ln/>
        </p:spPr>
      </p:sp>
      <p:sp>
        <p:nvSpPr>
          <p:cNvPr id="8" name="Text 4"/>
          <p:cNvSpPr/>
          <p:nvPr/>
        </p:nvSpPr>
        <p:spPr>
          <a:xfrm>
            <a:off x="749281" y="5765899"/>
            <a:ext cx="11442414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B1D3A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Observation: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B1D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These individual techniques are established. This project integrates them into one configurable SPI IP flow and plans systematic FPGA characterization.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547178" y="6614616"/>
            <a:ext cx="3596490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B7A8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Parameterized SPI IP Core · BMSCE ECE · 2026–27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90535" y="368300"/>
            <a:ext cx="9937501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59" kern="0" dirty="0">
                <a:solidFill>
                  <a:srgbClr val="3EEBD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03 — WHAT WE’RE SOLVING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90535" y="591245"/>
            <a:ext cx="8718332" cy="441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Problem Statement &amp; Proposed Solution</a:t>
            </a:r>
            <a:endParaRPr lang="en-US" sz="2900" dirty="0"/>
          </a:p>
        </p:txBody>
      </p:sp>
      <p:sp>
        <p:nvSpPr>
          <p:cNvPr id="5" name="Shape 2"/>
          <p:cNvSpPr/>
          <p:nvPr/>
        </p:nvSpPr>
        <p:spPr>
          <a:xfrm>
            <a:off x="546086" y="1524000"/>
            <a:ext cx="5130672" cy="2921099"/>
          </a:xfrm>
          <a:prstGeom prst="roundRect">
            <a:avLst>
              <a:gd name="adj" fmla="val 3130"/>
            </a:avLst>
          </a:prstGeom>
          <a:solidFill>
            <a:srgbClr val="33404D"/>
          </a:solidFill>
          <a:ln/>
        </p:spPr>
      </p:sp>
      <p:sp>
        <p:nvSpPr>
          <p:cNvPr id="6" name="Text 3"/>
          <p:cNvSpPr/>
          <p:nvPr/>
        </p:nvSpPr>
        <p:spPr>
          <a:xfrm>
            <a:off x="825479" y="1738610"/>
            <a:ext cx="4571886" cy="731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CADCFC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PROBLEM</a:t>
            </a:r>
            <a:endParaRPr lang="en-US" sz="1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 </a:t>
            </a:r>
            <a:endParaRPr lang="en-US" sz="1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Basic SPI implementations often prioritize functional communication over reusable configuration and systematic validation.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25479" y="2617391"/>
            <a:ext cx="4571886" cy="164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65760" indent="-365760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Different data widths, clocks, modes and slave counts</a:t>
            </a:r>
            <a:endParaRPr lang="en-US" sz="1800" dirty="0"/>
          </a:p>
          <a:p>
            <a:pPr algn="l" marL="365760" indent="-365760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Configuration-dependent FPGA resource and timing effects</a:t>
            </a:r>
            <a:endParaRPr lang="en-US" sz="1800" dirty="0"/>
          </a:p>
          <a:p>
            <a:pPr algn="l" marL="365760" indent="-365760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Manual waveform inspection alone is insufficient for systematic verification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019649" y="1524000"/>
            <a:ext cx="5130672" cy="3175099"/>
          </a:xfrm>
          <a:prstGeom prst="roundRect">
            <a:avLst>
              <a:gd name="adj" fmla="val 2880"/>
            </a:avLst>
          </a:prstGeom>
          <a:solidFill>
            <a:srgbClr val="EAF9F6"/>
          </a:solidFill>
          <a:ln/>
        </p:spPr>
      </p:sp>
      <p:sp>
        <p:nvSpPr>
          <p:cNvPr id="9" name="Text 6"/>
          <p:cNvSpPr/>
          <p:nvPr/>
        </p:nvSpPr>
        <p:spPr>
          <a:xfrm>
            <a:off x="6299042" y="1738610"/>
            <a:ext cx="4514737" cy="731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PROPOSED</a:t>
            </a:r>
            <a:endParaRPr lang="en-US" sz="1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 </a:t>
            </a:r>
            <a:endParaRPr lang="en-US" sz="1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D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One parameterized SPI Master/Slave RTL core with 8 / 16 / 32-bit words, all CPOL/CPHA modes, configurable clock division and 1 / 2 / 4 slaves.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299042" y="2617391"/>
            <a:ext cx="4571886" cy="1919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65760" indent="-365760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0B1D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Self-checking SystemVerilog: driver, monitor, scoreboard, assertions, functional coverage, constrained-random testing</a:t>
            </a:r>
            <a:endParaRPr lang="en-US" sz="1800" dirty="0"/>
          </a:p>
          <a:p>
            <a:pPr algn="l" marL="365760" indent="-365760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0B1D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Controlled fault injection: sampling edge, bit counter and CS timing</a:t>
            </a:r>
            <a:endParaRPr lang="en-US" sz="1800" dirty="0"/>
          </a:p>
          <a:p>
            <a:pPr algn="l" marL="365760" indent="-365760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0B1D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Planned FPGA characterization: LUTs, flip-flops, Fmax, critical path and transfer latency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546086" y="4699099"/>
            <a:ext cx="10591535" cy="431800"/>
          </a:xfrm>
          <a:prstGeom prst="roundRect">
            <a:avLst>
              <a:gd name="adj" fmla="val 16941"/>
            </a:avLst>
          </a:prstGeom>
          <a:solidFill>
            <a:srgbClr val="3EEBD0"/>
          </a:solidFill>
          <a:ln/>
        </p:spPr>
      </p:sp>
      <p:sp>
        <p:nvSpPr>
          <p:cNvPr id="12" name="Text 9"/>
          <p:cNvSpPr/>
          <p:nvPr/>
        </p:nvSpPr>
        <p:spPr>
          <a:xfrm>
            <a:off x="114297" y="4808339"/>
            <a:ext cx="11455113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Design → Verify → Implement → Measure → Analyze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03235" y="5193109"/>
            <a:ext cx="10420089" cy="319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2F5F9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Engineering Question: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2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How do configurable parameters such as data width and slave count affect FPGA resource utilization, timing and performance, while systematic verification ensures correctness across supported SPI modes?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47178" y="6614616"/>
            <a:ext cx="3596490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B7A8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Parameterized SPI IP Core · BMSCE ECE · 2026–27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90535" y="368300"/>
            <a:ext cx="9937501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59" kern="0" dirty="0">
                <a:solidFill>
                  <a:srgbClr val="3EEBD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04A — ARCHITECTURE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90535" y="592534"/>
            <a:ext cx="8718332" cy="441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Methodology — System Block Diagram</a:t>
            </a:r>
            <a:endParaRPr lang="en-US" sz="2900" dirty="0"/>
          </a:p>
        </p:txBody>
      </p:sp>
      <p:sp>
        <p:nvSpPr>
          <p:cNvPr id="5" name="Shape 2"/>
          <p:cNvSpPr/>
          <p:nvPr/>
        </p:nvSpPr>
        <p:spPr>
          <a:xfrm>
            <a:off x="685783" y="1409700"/>
            <a:ext cx="1803355" cy="558800"/>
          </a:xfrm>
          <a:prstGeom prst="roundRect">
            <a:avLst>
              <a:gd name="adj" fmla="val 13091"/>
            </a:avLst>
          </a:prstGeom>
          <a:solidFill>
            <a:srgbClr val="33404D"/>
          </a:solidFill>
          <a:ln/>
        </p:spPr>
      </p:sp>
      <p:sp>
        <p:nvSpPr>
          <p:cNvPr id="6" name="Text 3"/>
          <p:cNvSpPr/>
          <p:nvPr/>
        </p:nvSpPr>
        <p:spPr>
          <a:xfrm>
            <a:off x="165096" y="1605260"/>
            <a:ext cx="2844729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CONTROL / TEST INPUT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565336" y="1524000"/>
            <a:ext cx="660383" cy="330200"/>
          </a:xfrm>
          <a:custGeom>
            <a:avLst/>
            <a:gdLst/>
            <a:ahLst/>
            <a:cxnLst/>
            <a:rect l="l" t="t" r="r" b="b"/>
            <a:pathLst>
              <a:path w="660383" h="330200">
                <a:moveTo>
                  <a:pt x="0" y="82550"/>
                </a:moveTo>
                <a:lnTo>
                  <a:pt x="495288" y="82550"/>
                </a:lnTo>
                <a:lnTo>
                  <a:pt x="495288" y="0"/>
                </a:lnTo>
                <a:lnTo>
                  <a:pt x="660383" y="165100"/>
                </a:lnTo>
                <a:lnTo>
                  <a:pt x="495288" y="330200"/>
                </a:lnTo>
                <a:lnTo>
                  <a:pt x="495288" y="247650"/>
                </a:lnTo>
                <a:lnTo>
                  <a:pt x="0" y="247650"/>
                </a:lnTo>
                <a:close/>
              </a:path>
            </a:pathLst>
          </a:custGeom>
          <a:solidFill>
            <a:srgbClr val="3EEBD0"/>
          </a:solidFill>
          <a:ln/>
        </p:spPr>
      </p:sp>
      <p:sp>
        <p:nvSpPr>
          <p:cNvPr id="8" name="Shape 5"/>
          <p:cNvSpPr/>
          <p:nvPr/>
        </p:nvSpPr>
        <p:spPr>
          <a:xfrm>
            <a:off x="3352716" y="1333500"/>
            <a:ext cx="4381390" cy="2768699"/>
          </a:xfrm>
          <a:prstGeom prst="roundRect">
            <a:avLst>
              <a:gd name="adj" fmla="val 3303"/>
            </a:avLst>
          </a:prstGeom>
          <a:solidFill>
            <a:srgbClr val="142C4F"/>
          </a:solidFill>
          <a:ln w="12700">
            <a:solidFill>
              <a:srgbClr val="3EEB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959026" y="1524000"/>
            <a:ext cx="516877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3EEBD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SPI MASTER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3568611" y="1917700"/>
            <a:ext cx="1898603" cy="457200"/>
          </a:xfrm>
          <a:prstGeom prst="rect">
            <a:avLst/>
          </a:prstGeom>
          <a:solidFill>
            <a:srgbClr val="33404D"/>
          </a:solidFill>
          <a:ln/>
        </p:spPr>
      </p:sp>
      <p:sp>
        <p:nvSpPr>
          <p:cNvPr id="11" name="Text 8"/>
          <p:cNvSpPr/>
          <p:nvPr/>
        </p:nvSpPr>
        <p:spPr>
          <a:xfrm>
            <a:off x="3263818" y="2070100"/>
            <a:ext cx="2508187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FSM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619609" y="1917700"/>
            <a:ext cx="1898603" cy="457200"/>
          </a:xfrm>
          <a:prstGeom prst="rect">
            <a:avLst/>
          </a:prstGeom>
          <a:solidFill>
            <a:srgbClr val="33404D"/>
          </a:solidFill>
          <a:ln/>
        </p:spPr>
      </p:sp>
      <p:sp>
        <p:nvSpPr>
          <p:cNvPr id="13" name="Text 10"/>
          <p:cNvSpPr/>
          <p:nvPr/>
        </p:nvSpPr>
        <p:spPr>
          <a:xfrm>
            <a:off x="5314817" y="2070100"/>
            <a:ext cx="2508187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Clock Divider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568611" y="2527300"/>
            <a:ext cx="1898603" cy="457200"/>
          </a:xfrm>
          <a:prstGeom prst="rect">
            <a:avLst/>
          </a:prstGeom>
          <a:solidFill>
            <a:srgbClr val="33404D"/>
          </a:solidFill>
          <a:ln/>
        </p:spPr>
      </p:sp>
      <p:sp>
        <p:nvSpPr>
          <p:cNvPr id="15" name="Text 12"/>
          <p:cNvSpPr/>
          <p:nvPr/>
        </p:nvSpPr>
        <p:spPr>
          <a:xfrm>
            <a:off x="3263818" y="2679700"/>
            <a:ext cx="2508187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TX Shift Register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619609" y="2527300"/>
            <a:ext cx="1898603" cy="457200"/>
          </a:xfrm>
          <a:prstGeom prst="rect">
            <a:avLst/>
          </a:prstGeom>
          <a:solidFill>
            <a:srgbClr val="33404D"/>
          </a:solidFill>
          <a:ln/>
        </p:spPr>
      </p:sp>
      <p:sp>
        <p:nvSpPr>
          <p:cNvPr id="17" name="Text 14"/>
          <p:cNvSpPr/>
          <p:nvPr/>
        </p:nvSpPr>
        <p:spPr>
          <a:xfrm>
            <a:off x="5314817" y="2679700"/>
            <a:ext cx="2508187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RX Shift Register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568611" y="3136702"/>
            <a:ext cx="1898603" cy="457200"/>
          </a:xfrm>
          <a:prstGeom prst="rect">
            <a:avLst/>
          </a:prstGeom>
          <a:solidFill>
            <a:srgbClr val="33404D"/>
          </a:solidFill>
          <a:ln/>
        </p:spPr>
      </p:sp>
      <p:sp>
        <p:nvSpPr>
          <p:cNvPr id="19" name="Text 16"/>
          <p:cNvSpPr/>
          <p:nvPr/>
        </p:nvSpPr>
        <p:spPr>
          <a:xfrm>
            <a:off x="3263818" y="3289102"/>
            <a:ext cx="2508187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Bit Counter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619609" y="3136702"/>
            <a:ext cx="1898603" cy="457200"/>
          </a:xfrm>
          <a:prstGeom prst="rect">
            <a:avLst/>
          </a:prstGeom>
          <a:solidFill>
            <a:srgbClr val="3EEBD0"/>
          </a:solidFill>
          <a:ln/>
        </p:spPr>
      </p:sp>
      <p:sp>
        <p:nvSpPr>
          <p:cNvPr id="21" name="Text 18"/>
          <p:cNvSpPr/>
          <p:nvPr/>
        </p:nvSpPr>
        <p:spPr>
          <a:xfrm>
            <a:off x="5314817" y="3289102"/>
            <a:ext cx="2508187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Chip-Select Logic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7835704" y="2413000"/>
            <a:ext cx="736582" cy="355600"/>
          </a:xfrm>
          <a:custGeom>
            <a:avLst/>
            <a:gdLst/>
            <a:ahLst/>
            <a:cxnLst/>
            <a:rect l="l" t="t" r="r" b="b"/>
            <a:pathLst>
              <a:path w="736582" h="355600">
                <a:moveTo>
                  <a:pt x="0" y="88900"/>
                </a:moveTo>
                <a:lnTo>
                  <a:pt x="558771" y="88900"/>
                </a:lnTo>
                <a:lnTo>
                  <a:pt x="558771" y="0"/>
                </a:lnTo>
                <a:lnTo>
                  <a:pt x="736582" y="177800"/>
                </a:lnTo>
                <a:lnTo>
                  <a:pt x="558771" y="355600"/>
                </a:lnTo>
                <a:lnTo>
                  <a:pt x="558771" y="266700"/>
                </a:lnTo>
                <a:lnTo>
                  <a:pt x="0" y="266700"/>
                </a:lnTo>
                <a:close/>
              </a:path>
            </a:pathLst>
          </a:custGeom>
          <a:solidFill>
            <a:srgbClr val="3EEBD0"/>
          </a:solidFill>
          <a:ln/>
        </p:spPr>
      </p:sp>
      <p:sp>
        <p:nvSpPr>
          <p:cNvPr id="23" name="Shape 20"/>
          <p:cNvSpPr/>
          <p:nvPr/>
        </p:nvSpPr>
        <p:spPr>
          <a:xfrm>
            <a:off x="8648484" y="1676400"/>
            <a:ext cx="1333467" cy="1955800"/>
          </a:xfrm>
          <a:prstGeom prst="roundRect">
            <a:avLst>
              <a:gd name="adj" fmla="val 5486"/>
            </a:avLst>
          </a:prstGeom>
          <a:solidFill>
            <a:srgbClr val="33404D"/>
          </a:solidFill>
          <a:ln/>
        </p:spPr>
      </p:sp>
      <p:sp>
        <p:nvSpPr>
          <p:cNvPr id="24" name="Text 21"/>
          <p:cNvSpPr/>
          <p:nvPr/>
        </p:nvSpPr>
        <p:spPr>
          <a:xfrm>
            <a:off x="8775480" y="1789410"/>
            <a:ext cx="107947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3EEBD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SPI BUS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 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SCLK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MOSI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MISO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CS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10185145" y="1511300"/>
            <a:ext cx="1041374" cy="482600"/>
          </a:xfrm>
          <a:prstGeom prst="roundRect">
            <a:avLst>
              <a:gd name="adj" fmla="val 15158"/>
            </a:avLst>
          </a:prstGeom>
          <a:solidFill>
            <a:srgbClr val="33404D"/>
          </a:solidFill>
          <a:ln/>
        </p:spPr>
      </p:sp>
      <p:sp>
        <p:nvSpPr>
          <p:cNvPr id="26" name="Text 23"/>
          <p:cNvSpPr/>
          <p:nvPr/>
        </p:nvSpPr>
        <p:spPr>
          <a:xfrm>
            <a:off x="9639059" y="1676400"/>
            <a:ext cx="2133547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CS0 → Slave0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10185145" y="2235200"/>
            <a:ext cx="1041374" cy="482600"/>
          </a:xfrm>
          <a:prstGeom prst="roundRect">
            <a:avLst>
              <a:gd name="adj" fmla="val 15158"/>
            </a:avLst>
          </a:prstGeom>
          <a:solidFill>
            <a:srgbClr val="33404D"/>
          </a:solidFill>
          <a:ln/>
        </p:spPr>
      </p:sp>
      <p:sp>
        <p:nvSpPr>
          <p:cNvPr id="28" name="Text 25"/>
          <p:cNvSpPr/>
          <p:nvPr/>
        </p:nvSpPr>
        <p:spPr>
          <a:xfrm>
            <a:off x="9639059" y="2400300"/>
            <a:ext cx="2133547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CS1 → Slave1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10185145" y="2959199"/>
            <a:ext cx="1041374" cy="482600"/>
          </a:xfrm>
          <a:prstGeom prst="roundRect">
            <a:avLst>
              <a:gd name="adj" fmla="val 15158"/>
            </a:avLst>
          </a:prstGeom>
          <a:solidFill>
            <a:srgbClr val="33404D"/>
          </a:solidFill>
          <a:ln/>
        </p:spPr>
      </p:sp>
      <p:sp>
        <p:nvSpPr>
          <p:cNvPr id="30" name="Text 27"/>
          <p:cNvSpPr/>
          <p:nvPr/>
        </p:nvSpPr>
        <p:spPr>
          <a:xfrm>
            <a:off x="10248644" y="3034109"/>
            <a:ext cx="91437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CS(N−1) → Slave(N−1)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8705632" y="3733899"/>
            <a:ext cx="3486063" cy="137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EEBD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Configurable slave count: 1 / 2 / 4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685783" y="4445099"/>
            <a:ext cx="10540736" cy="685800"/>
          </a:xfrm>
          <a:prstGeom prst="roundRect">
            <a:avLst>
              <a:gd name="adj" fmla="val 10666"/>
            </a:avLst>
          </a:prstGeom>
          <a:solidFill>
            <a:srgbClr val="33404D"/>
          </a:solidFill>
          <a:ln/>
        </p:spPr>
      </p:sp>
      <p:sp>
        <p:nvSpPr>
          <p:cNvPr id="33" name="Text 30"/>
          <p:cNvSpPr/>
          <p:nvPr/>
        </p:nvSpPr>
        <p:spPr>
          <a:xfrm>
            <a:off x="888978" y="4558109"/>
            <a:ext cx="101343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3EEBD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PARAMETERS</a:t>
            </a:r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   DATA_WIDTH: 8 / 16 / 32  ·  CPOL: 0 / 1  ·  CPHA: 0 / 1  ·  CLK_DIV: configurable  ·  SLAVE_COUNT: 1 / 2 / 4</a:t>
            </a:r>
            <a:endParaRPr lang="en-US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 </a:t>
            </a:r>
            <a:endParaRPr lang="en-US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3EEBD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RTL BUILDING BLOCKS</a:t>
            </a:r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   FSM · Shift Registers · Bit Counter · Clock Divider · Chip-Select Logic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742931" y="5397599"/>
            <a:ext cx="11448764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CADCFC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Scope boundary: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Master and Slave operate in the same FPGA clock domain. Asynchronous CDC between independently clocked domains is outside current scope.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590535" y="5943699"/>
            <a:ext cx="9937501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Parameterized SPI IP Core · BMSCE ECE · 2026–27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90535" y="368300"/>
            <a:ext cx="9937501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59" kern="0" dirty="0">
                <a:solidFill>
                  <a:srgbClr val="3EEBD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04B — ALGORITHM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90535" y="592534"/>
            <a:ext cx="8718332" cy="441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Methodology — Transfer Flow &amp; Verification</a:t>
            </a:r>
            <a:endParaRPr lang="en-US" sz="2900" dirty="0"/>
          </a:p>
        </p:txBody>
      </p:sp>
      <p:sp>
        <p:nvSpPr>
          <p:cNvPr id="5" name="Shape 2"/>
          <p:cNvSpPr/>
          <p:nvPr/>
        </p:nvSpPr>
        <p:spPr>
          <a:xfrm>
            <a:off x="558786" y="1409700"/>
            <a:ext cx="11074123" cy="2032000"/>
          </a:xfrm>
          <a:prstGeom prst="roundRect">
            <a:avLst>
              <a:gd name="adj" fmla="val 4500"/>
            </a:avLst>
          </a:prstGeom>
          <a:solidFill>
            <a:srgbClr val="142C4F"/>
          </a:solidFill>
          <a:ln/>
        </p:spPr>
      </p:sp>
      <p:sp>
        <p:nvSpPr>
          <p:cNvPr id="6" name="Text 3"/>
          <p:cNvSpPr/>
          <p:nvPr/>
        </p:nvSpPr>
        <p:spPr>
          <a:xfrm>
            <a:off x="787380" y="1587500"/>
            <a:ext cx="11404315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3EEBD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SPI TRANSFER FLOW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801568" y="1949748"/>
            <a:ext cx="2094654" cy="885825"/>
          </a:xfrm>
          <a:prstGeom prst="rect">
            <a:avLst/>
          </a:prstGeom>
          <a:solidFill>
            <a:srgbClr val="E2E5E9"/>
          </a:solidFill>
          <a:ln/>
        </p:spPr>
      </p:sp>
      <p:sp>
        <p:nvSpPr>
          <p:cNvPr id="8" name="Shape 5"/>
          <p:cNvSpPr/>
          <p:nvPr/>
        </p:nvSpPr>
        <p:spPr>
          <a:xfrm>
            <a:off x="787380" y="1935460"/>
            <a:ext cx="2123327" cy="914400"/>
          </a:xfrm>
          <a:prstGeom prst="rect">
            <a:avLst/>
          </a:prstGeom>
          <a:solidFill>
            <a:srgbClr val="C8CBCF"/>
          </a:solidFill>
          <a:ln/>
        </p:spPr>
      </p:sp>
      <p:sp>
        <p:nvSpPr>
          <p:cNvPr id="9" name="Text 6"/>
          <p:cNvSpPr/>
          <p:nvPr/>
        </p:nvSpPr>
        <p:spPr>
          <a:xfrm>
            <a:off x="1762081" y="2221210"/>
            <a:ext cx="72626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1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1015975" y="2927350"/>
            <a:ext cx="166613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START /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LOAD TX DATA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924896" y="1949748"/>
            <a:ext cx="2094753" cy="885825"/>
          </a:xfrm>
          <a:prstGeom prst="rect">
            <a:avLst/>
          </a:prstGeom>
          <a:solidFill>
            <a:srgbClr val="E2E5E9"/>
          </a:solidFill>
          <a:ln/>
        </p:spPr>
      </p:sp>
      <p:sp>
        <p:nvSpPr>
          <p:cNvPr id="12" name="Shape 9"/>
          <p:cNvSpPr/>
          <p:nvPr/>
        </p:nvSpPr>
        <p:spPr>
          <a:xfrm>
            <a:off x="2910708" y="1935460"/>
            <a:ext cx="2123327" cy="914400"/>
          </a:xfrm>
          <a:prstGeom prst="rect">
            <a:avLst/>
          </a:prstGeom>
          <a:solidFill>
            <a:srgbClr val="C8CBCF"/>
          </a:solidFill>
          <a:ln/>
        </p:spPr>
      </p:sp>
      <p:sp>
        <p:nvSpPr>
          <p:cNvPr id="13" name="Text 10"/>
          <p:cNvSpPr/>
          <p:nvPr/>
        </p:nvSpPr>
        <p:spPr>
          <a:xfrm>
            <a:off x="3885408" y="2221210"/>
            <a:ext cx="72626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2</a:t>
            </a:r>
            <a:endParaRPr lang="en-US" sz="2700" dirty="0"/>
          </a:p>
        </p:txBody>
      </p:sp>
      <p:sp>
        <p:nvSpPr>
          <p:cNvPr id="14" name="Text 11"/>
          <p:cNvSpPr/>
          <p:nvPr/>
        </p:nvSpPr>
        <p:spPr>
          <a:xfrm>
            <a:off x="3139302" y="2927350"/>
            <a:ext cx="166613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ASSERT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SELECTED CS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048322" y="1949748"/>
            <a:ext cx="2094654" cy="885825"/>
          </a:xfrm>
          <a:prstGeom prst="rect">
            <a:avLst/>
          </a:prstGeom>
          <a:solidFill>
            <a:srgbClr val="E2E5E9"/>
          </a:solidFill>
          <a:ln/>
        </p:spPr>
      </p:sp>
      <p:sp>
        <p:nvSpPr>
          <p:cNvPr id="16" name="Shape 13"/>
          <p:cNvSpPr/>
          <p:nvPr/>
        </p:nvSpPr>
        <p:spPr>
          <a:xfrm>
            <a:off x="5034134" y="1935460"/>
            <a:ext cx="2123327" cy="914400"/>
          </a:xfrm>
          <a:prstGeom prst="rect">
            <a:avLst/>
          </a:prstGeom>
          <a:solidFill>
            <a:srgbClr val="C8CBCF"/>
          </a:solidFill>
          <a:ln/>
        </p:spPr>
      </p:sp>
      <p:sp>
        <p:nvSpPr>
          <p:cNvPr id="17" name="Text 14"/>
          <p:cNvSpPr/>
          <p:nvPr/>
        </p:nvSpPr>
        <p:spPr>
          <a:xfrm>
            <a:off x="6008835" y="2221210"/>
            <a:ext cx="72626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3</a:t>
            </a:r>
            <a:endParaRPr lang="en-US" sz="2700" dirty="0"/>
          </a:p>
        </p:txBody>
      </p:sp>
      <p:sp>
        <p:nvSpPr>
          <p:cNvPr id="18" name="Text 15"/>
          <p:cNvSpPr/>
          <p:nvPr/>
        </p:nvSpPr>
        <p:spPr>
          <a:xfrm>
            <a:off x="5262728" y="2927350"/>
            <a:ext cx="166613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GENERATE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SCLK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7171749" y="1949748"/>
            <a:ext cx="2094753" cy="885825"/>
          </a:xfrm>
          <a:prstGeom prst="rect">
            <a:avLst/>
          </a:prstGeom>
          <a:solidFill>
            <a:srgbClr val="E2E5E9"/>
          </a:solidFill>
          <a:ln/>
        </p:spPr>
      </p:sp>
      <p:sp>
        <p:nvSpPr>
          <p:cNvPr id="20" name="Shape 17"/>
          <p:cNvSpPr/>
          <p:nvPr/>
        </p:nvSpPr>
        <p:spPr>
          <a:xfrm>
            <a:off x="7157362" y="1935460"/>
            <a:ext cx="2123327" cy="914400"/>
          </a:xfrm>
          <a:prstGeom prst="rect">
            <a:avLst/>
          </a:prstGeom>
          <a:solidFill>
            <a:srgbClr val="C8CBCF"/>
          </a:solidFill>
          <a:ln/>
        </p:spPr>
      </p:sp>
      <p:sp>
        <p:nvSpPr>
          <p:cNvPr id="21" name="Text 18"/>
          <p:cNvSpPr/>
          <p:nvPr/>
        </p:nvSpPr>
        <p:spPr>
          <a:xfrm>
            <a:off x="8132162" y="2221210"/>
            <a:ext cx="72626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4</a:t>
            </a:r>
            <a:endParaRPr lang="en-US" sz="2700" dirty="0"/>
          </a:p>
        </p:txBody>
      </p:sp>
      <p:sp>
        <p:nvSpPr>
          <p:cNvPr id="22" name="Text 19"/>
          <p:cNvSpPr/>
          <p:nvPr/>
        </p:nvSpPr>
        <p:spPr>
          <a:xfrm>
            <a:off x="7385957" y="2927350"/>
            <a:ext cx="166613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SHIFT +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SAMPLE DATA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9295076" y="1949748"/>
            <a:ext cx="2094654" cy="885825"/>
          </a:xfrm>
          <a:prstGeom prst="rect">
            <a:avLst/>
          </a:prstGeom>
          <a:solidFill>
            <a:srgbClr val="E2E5E9"/>
          </a:solidFill>
          <a:ln/>
        </p:spPr>
      </p:sp>
      <p:sp>
        <p:nvSpPr>
          <p:cNvPr id="24" name="Shape 21"/>
          <p:cNvSpPr/>
          <p:nvPr/>
        </p:nvSpPr>
        <p:spPr>
          <a:xfrm>
            <a:off x="9280888" y="1935460"/>
            <a:ext cx="2123327" cy="914400"/>
          </a:xfrm>
          <a:prstGeom prst="rect">
            <a:avLst/>
          </a:prstGeom>
          <a:solidFill>
            <a:srgbClr val="C8CBCF"/>
          </a:solidFill>
          <a:ln/>
        </p:spPr>
      </p:sp>
      <p:sp>
        <p:nvSpPr>
          <p:cNvPr id="25" name="Text 22"/>
          <p:cNvSpPr/>
          <p:nvPr/>
        </p:nvSpPr>
        <p:spPr>
          <a:xfrm>
            <a:off x="10255589" y="2221210"/>
            <a:ext cx="72626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5</a:t>
            </a:r>
            <a:endParaRPr lang="en-US" sz="2700" dirty="0"/>
          </a:p>
        </p:txBody>
      </p:sp>
      <p:sp>
        <p:nvSpPr>
          <p:cNvPr id="26" name="Text 23"/>
          <p:cNvSpPr/>
          <p:nvPr/>
        </p:nvSpPr>
        <p:spPr>
          <a:xfrm>
            <a:off x="9509482" y="2927350"/>
            <a:ext cx="166613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BIT COUNTER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REACHES N?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558786" y="3708499"/>
            <a:ext cx="5333867" cy="1968500"/>
          </a:xfrm>
          <a:prstGeom prst="roundRect">
            <a:avLst>
              <a:gd name="adj" fmla="val 4645"/>
            </a:avLst>
          </a:prstGeom>
          <a:solidFill>
            <a:srgbClr val="33404D"/>
          </a:solidFill>
          <a:ln/>
        </p:spPr>
      </p:sp>
      <p:sp>
        <p:nvSpPr>
          <p:cNvPr id="28" name="Text 25"/>
          <p:cNvSpPr/>
          <p:nvPr/>
        </p:nvSpPr>
        <p:spPr>
          <a:xfrm>
            <a:off x="787380" y="3886299"/>
            <a:ext cx="6038699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3EEBD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SYSTEMVERILOG VERIFICATION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177796" y="4234259"/>
            <a:ext cx="6095848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TEST / DRIVER → DUT → MONITOR → SCOREBOARD → PASS / FAIL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787380" y="4568230"/>
            <a:ext cx="4819529" cy="7997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Directed and constrained-random tests; scoreboard checks; assertions; functional coverage.</a:t>
            </a:r>
            <a:endParaRPr lang="en-US" sz="10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 </a:t>
            </a:r>
            <a:endParaRPr lang="en-US" sz="10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All four CPOL/CPHA modes; 8 / 16 / 32-bit configurations; reset, back-to-back transfers, 1 / 2 / 4 slaves and data patterns.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6184745" y="3708499"/>
            <a:ext cx="5448164" cy="1968500"/>
          </a:xfrm>
          <a:prstGeom prst="roundRect">
            <a:avLst>
              <a:gd name="adj" fmla="val 4645"/>
            </a:avLst>
          </a:prstGeom>
          <a:solidFill>
            <a:srgbClr val="EAF9F6"/>
          </a:solidFill>
          <a:ln/>
        </p:spPr>
      </p:sp>
      <p:sp>
        <p:nvSpPr>
          <p:cNvPr id="32" name="Text 29"/>
          <p:cNvSpPr/>
          <p:nvPr/>
        </p:nvSpPr>
        <p:spPr>
          <a:xfrm>
            <a:off x="6413340" y="3886299"/>
            <a:ext cx="5778355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E8C7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CONTROLLED BUG DETECTION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6413340" y="4234259"/>
            <a:ext cx="5778355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B1D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Sampling-edge fault · Bit-counter fault · CS-timing fault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6413340" y="4545310"/>
            <a:ext cx="4990975" cy="319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B1D3A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Injected Bug → Verification Failure → Waveform / Assertion Analysis → Root-Cause Identification → RTL Fix → Regression Pass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615935" y="5867499"/>
            <a:ext cx="11575760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3EEBD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Goal: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systematically verify functional correctness and demonstrate detection of realistic protocol and RTL faults.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590535" y="6502499"/>
            <a:ext cx="9937501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B7A8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Parameterized SPI IP Core · BMSCE ECE · 2026–27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90535" y="368300"/>
            <a:ext cx="9937501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59" kern="0" dirty="0">
                <a:solidFill>
                  <a:srgbClr val="3EEBD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05 — TIMELINE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90535" y="591245"/>
            <a:ext cx="8718332" cy="441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Project Planning</a:t>
            </a:r>
            <a:endParaRPr lang="en-US" sz="2900" dirty="0"/>
          </a:p>
        </p:txBody>
      </p:sp>
      <p:sp>
        <p:nvSpPr>
          <p:cNvPr id="5" name="Shape 2"/>
          <p:cNvSpPr/>
          <p:nvPr/>
        </p:nvSpPr>
        <p:spPr>
          <a:xfrm rot="9600">
            <a:off x="1422364" y="2247900"/>
            <a:ext cx="9346966" cy="25400"/>
          </a:xfrm>
          <a:prstGeom prst="rect">
            <a:avLst/>
          </a:prstGeom>
          <a:solidFill>
            <a:srgbClr val="6B7A8D"/>
          </a:solidFill>
          <a:ln/>
        </p:spPr>
      </p:sp>
      <p:sp>
        <p:nvSpPr>
          <p:cNvPr id="6" name="Shape 3"/>
          <p:cNvSpPr/>
          <p:nvPr/>
        </p:nvSpPr>
        <p:spPr>
          <a:xfrm>
            <a:off x="1155671" y="1841500"/>
            <a:ext cx="812780" cy="812800"/>
          </a:xfrm>
          <a:prstGeom prst="ellipse">
            <a:avLst/>
          </a:prstGeom>
          <a:solidFill>
            <a:srgbClr val="3EEBD0"/>
          </a:solidFill>
          <a:ln/>
        </p:spPr>
      </p:sp>
      <p:sp>
        <p:nvSpPr>
          <p:cNvPr id="7" name="Text 4"/>
          <p:cNvSpPr/>
          <p:nvPr/>
        </p:nvSpPr>
        <p:spPr>
          <a:xfrm>
            <a:off x="908027" y="2082800"/>
            <a:ext cx="1308067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28634" y="2843609"/>
            <a:ext cx="1854154" cy="837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SETUP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Week 1–2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SPI study, specification, architecture and interface definition.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52716" y="1841500"/>
            <a:ext cx="812780" cy="812800"/>
          </a:xfrm>
          <a:prstGeom prst="ellipse">
            <a:avLst/>
          </a:prstGeom>
          <a:solidFill>
            <a:srgbClr val="3EEBD0"/>
          </a:solidFill>
          <a:ln/>
        </p:spPr>
      </p:sp>
      <p:sp>
        <p:nvSpPr>
          <p:cNvPr id="10" name="Text 7"/>
          <p:cNvSpPr/>
          <p:nvPr/>
        </p:nvSpPr>
        <p:spPr>
          <a:xfrm>
            <a:off x="3105072" y="2082800"/>
            <a:ext cx="1308067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2825679" y="2843609"/>
            <a:ext cx="1854154" cy="837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RTL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Week 3–5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Master, Slave, clock generation, parameterization and initial simulation.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549761" y="1841500"/>
            <a:ext cx="812780" cy="812800"/>
          </a:xfrm>
          <a:prstGeom prst="ellipse">
            <a:avLst/>
          </a:prstGeom>
          <a:solidFill>
            <a:srgbClr val="3EEBD0"/>
          </a:solidFill>
          <a:ln/>
        </p:spPr>
      </p:sp>
      <p:sp>
        <p:nvSpPr>
          <p:cNvPr id="13" name="Text 10"/>
          <p:cNvSpPr/>
          <p:nvPr/>
        </p:nvSpPr>
        <p:spPr>
          <a:xfrm>
            <a:off x="5302117" y="2082800"/>
            <a:ext cx="1308067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5022724" y="2843609"/>
            <a:ext cx="1854154" cy="837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VERIFICATION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Week 6–9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Driver, monitor, scoreboard, constrained-random tests, assertions and coverage.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746806" y="1841500"/>
            <a:ext cx="812780" cy="812800"/>
          </a:xfrm>
          <a:prstGeom prst="ellipse">
            <a:avLst/>
          </a:prstGeom>
          <a:solidFill>
            <a:srgbClr val="3EEBD0"/>
          </a:solidFill>
          <a:ln/>
        </p:spPr>
      </p:sp>
      <p:sp>
        <p:nvSpPr>
          <p:cNvPr id="16" name="Text 13"/>
          <p:cNvSpPr/>
          <p:nvPr/>
        </p:nvSpPr>
        <p:spPr>
          <a:xfrm>
            <a:off x="7499162" y="2082800"/>
            <a:ext cx="1308067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7219769" y="2843609"/>
            <a:ext cx="1854154" cy="837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FPGA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Week 10–12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Synthesis, implementation, utilization, timing and configuration comparison.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9943851" y="1841500"/>
            <a:ext cx="812780" cy="812800"/>
          </a:xfrm>
          <a:prstGeom prst="ellipse">
            <a:avLst/>
          </a:prstGeom>
          <a:solidFill>
            <a:srgbClr val="3EEBD0"/>
          </a:solidFill>
          <a:ln/>
        </p:spPr>
      </p:sp>
      <p:sp>
        <p:nvSpPr>
          <p:cNvPr id="19" name="Text 16"/>
          <p:cNvSpPr/>
          <p:nvPr/>
        </p:nvSpPr>
        <p:spPr>
          <a:xfrm>
            <a:off x="9696207" y="2082800"/>
            <a:ext cx="1308067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5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9416814" y="2843609"/>
            <a:ext cx="1854154" cy="837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RESULTS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Week 13–14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Bug analysis, interpretation, documentation and final presentation.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46086" y="4851499"/>
            <a:ext cx="11099522" cy="736600"/>
          </a:xfrm>
          <a:prstGeom prst="roundRect">
            <a:avLst>
              <a:gd name="adj" fmla="val 12413"/>
            </a:avLst>
          </a:prstGeom>
          <a:solidFill>
            <a:srgbClr val="EAF9F6"/>
          </a:solidFill>
          <a:ln/>
        </p:spPr>
      </p:sp>
      <p:sp>
        <p:nvSpPr>
          <p:cNvPr id="22" name="Text 19"/>
          <p:cNvSpPr/>
          <p:nvPr/>
        </p:nvSpPr>
        <p:spPr>
          <a:xfrm>
            <a:off x="749281" y="4964509"/>
            <a:ext cx="10693132" cy="502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B1D3A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Execution principles: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B1D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verification begins with stable RTL blocks; feature freeze precedes FPGA characterization.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 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B1D3A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Team responsibilities: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B1D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RTL Design · Verification · FPGA/Characterization · Documentation/Integration.   </a:t>
            </a:r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B1D3A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Target: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B1D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approximately 14 weeks.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90535" y="6096099"/>
            <a:ext cx="9937501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Parameterized SPI IP Core · BMSCE ECE · 2026–27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90535" y="368300"/>
            <a:ext cx="9937501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59" kern="0" dirty="0">
                <a:solidFill>
                  <a:srgbClr val="3EEBD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06 — BUDGET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90535" y="592534"/>
            <a:ext cx="8718332" cy="441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Estimated Budget</a:t>
            </a:r>
            <a:endParaRPr lang="en-US" sz="2900" dirty="0"/>
          </a:p>
        </p:txBody>
      </p:sp>
      <p:sp>
        <p:nvSpPr>
          <p:cNvPr id="5" name="Shape 2"/>
          <p:cNvSpPr/>
          <p:nvPr/>
        </p:nvSpPr>
        <p:spPr>
          <a:xfrm>
            <a:off x="546086" y="1397000"/>
            <a:ext cx="11099522" cy="3746500"/>
          </a:xfrm>
          <a:prstGeom prst="roundRect">
            <a:avLst>
              <a:gd name="adj" fmla="val 1952"/>
            </a:avLst>
          </a:prstGeom>
          <a:solidFill>
            <a:srgbClr val="142C4F"/>
          </a:solidFill>
          <a:ln/>
        </p:spPr>
      </p:sp>
      <p:sp>
        <p:nvSpPr>
          <p:cNvPr id="6" name="Shape 3"/>
          <p:cNvSpPr/>
          <p:nvPr/>
        </p:nvSpPr>
        <p:spPr>
          <a:xfrm>
            <a:off x="546086" y="1397000"/>
            <a:ext cx="11099522" cy="2195909"/>
          </a:xfrm>
          <a:prstGeom prst="roundRect">
            <a:avLst>
              <a:gd name="adj" fmla="val 1562"/>
            </a:avLst>
          </a:prstGeom>
          <a:solidFill>
            <a:srgbClr val="142C4F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6086" y="1397000"/>
          <a:ext cx="9143771" cy="914400"/>
        </p:xfrm>
        <a:graphic>
          <a:graphicData uri="http://schemas.openxmlformats.org/drawingml/2006/table">
            <a:tbl>
              <a:tblPr/>
              <a:tblGrid>
                <a:gridCol w="1109952"/>
                <a:gridCol w="2774881"/>
                <a:gridCol w="4994785"/>
                <a:gridCol w="2219905"/>
              </a:tblGrid>
              <a:tr h="27105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Sl. No.</a:t>
                      </a:r>
                      <a:endParaRPr lang="en-US" sz="9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1598" marR="101598" marT="63498" marB="63498" anchor="ctr">
                    <a:lnL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0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Item</a:t>
                      </a:r>
                      <a:endParaRPr lang="en-US" sz="9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1598" marR="101598" marT="63498" marB="63498" anchor="ctr">
                    <a:lnL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0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Justification</a:t>
                      </a:r>
                      <a:endParaRPr lang="en-US" sz="9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1598" marR="101598" marT="63498" marB="63498" anchor="ctr">
                    <a:lnL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0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Estimated Cost (INR)</a:t>
                      </a:r>
                      <a:endParaRPr lang="en-US" sz="9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1598" marR="101598" marT="63498" marB="63498" anchor="ctr">
                    <a:lnL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04D"/>
                    </a:solidFill>
                  </a:tcPr>
                </a:tc>
              </a:tr>
              <a:tr h="27105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1</a:t>
                      </a:r>
                      <a:endParaRPr lang="en-US" sz="9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1598" marR="101598" marT="63498" marB="63498" anchor="ctr">
                    <a:lnL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EDA / Simulation Tools</a:t>
                      </a:r>
                      <a:endParaRPr lang="en-US" sz="9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1598" marR="101598" marT="63498" marB="63498" anchor="ctr">
                    <a:lnL w="12700" cap="flat" cmpd="sng" algn="ctr">
                      <a:solidFill>
                        <a:srgbClr val="142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Academic/institutional access assumed</a:t>
                      </a:r>
                      <a:endParaRPr lang="en-US" sz="9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1598" marR="101598" marT="63498" marB="63498" anchor="ctr">
                    <a:lnL w="12700" cap="flat" cmpd="sng" algn="ctr">
                      <a:solidFill>
                        <a:srgbClr val="142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Nil</a:t>
                      </a:r>
                      <a:endParaRPr lang="en-US" sz="9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1598" marR="101598" marT="63498" marB="63498" anchor="ctr">
                    <a:lnL w="12700" cap="flat" cmpd="sng" algn="ctr">
                      <a:solidFill>
                        <a:srgbClr val="142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105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2</a:t>
                      </a:r>
                      <a:endParaRPr lang="en-US" sz="9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1598" marR="101598" marT="63498" marB="63498" anchor="ctr">
                    <a:lnL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FPGA Development Board</a:t>
                      </a:r>
                      <a:endParaRPr lang="en-US" sz="9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1598" marR="101598" marT="63498" marB="63498" anchor="ctr">
                    <a:lnL w="12700" cap="flat" cmpd="sng" algn="ctr">
                      <a:solidFill>
                        <a:srgbClr val="142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College/team-provided board assumed</a:t>
                      </a:r>
                      <a:endParaRPr lang="en-US" sz="9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1598" marR="101598" marT="63498" marB="63498" anchor="ctr">
                    <a:lnL w="12700" cap="flat" cmpd="sng" algn="ctr">
                      <a:solidFill>
                        <a:srgbClr val="142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Nil</a:t>
                      </a:r>
                      <a:endParaRPr lang="en-US" sz="9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1598" marR="101598" marT="63498" marB="63498" anchor="ctr">
                    <a:lnL w="12700" cap="flat" cmpd="sng" algn="ctr">
                      <a:solidFill>
                        <a:srgbClr val="142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105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3</a:t>
                      </a:r>
                      <a:endParaRPr lang="en-US" sz="9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1598" marR="101598" marT="63498" marB="63498" anchor="ctr">
                    <a:lnL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SPI Peripheral / Components</a:t>
                      </a:r>
                      <a:endParaRPr lang="en-US" sz="9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1598" marR="101598" marT="63498" marB="63498" anchor="ctr">
                    <a:lnL w="12700" cap="flat" cmpd="sng" algn="ctr">
                      <a:solidFill>
                        <a:srgbClr val="142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Optional peripheral, connectors and basic hardware</a:t>
                      </a:r>
                      <a:endParaRPr lang="en-US" sz="9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1598" marR="101598" marT="63498" marB="63498" anchor="ctr">
                    <a:lnL w="12700" cap="flat" cmpd="sng" algn="ctr">
                      <a:solidFill>
                        <a:srgbClr val="142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500</a:t>
                      </a:r>
                      <a:endParaRPr lang="en-US" sz="9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1598" marR="101598" marT="63498" marB="63498" anchor="ctr">
                    <a:lnL w="12700" cap="flat" cmpd="sng" algn="ctr">
                      <a:solidFill>
                        <a:srgbClr val="142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105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4</a:t>
                      </a:r>
                      <a:endParaRPr lang="en-US" sz="9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1598" marR="101598" marT="63498" marB="63498" anchor="ctr">
                    <a:lnL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Report Printing and Binding</a:t>
                      </a:r>
                      <a:endParaRPr lang="en-US" sz="9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1598" marR="101598" marT="63498" marB="63498" anchor="ctr">
                    <a:lnL w="12700" cap="flat" cmpd="sng" algn="ctr">
                      <a:solidFill>
                        <a:srgbClr val="142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Project documentation and submission</a:t>
                      </a:r>
                      <a:endParaRPr lang="en-US" sz="9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1598" marR="101598" marT="63498" marB="63498" anchor="ctr">
                    <a:lnL w="12700" cap="flat" cmpd="sng" algn="ctr">
                      <a:solidFill>
                        <a:srgbClr val="142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500</a:t>
                      </a:r>
                      <a:endParaRPr lang="en-US" sz="9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1598" marR="101598" marT="63498" marB="63498" anchor="ctr">
                    <a:lnL w="12700" cap="flat" cmpd="sng" algn="ctr">
                      <a:solidFill>
                        <a:srgbClr val="142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105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5</a:t>
                      </a:r>
                      <a:endParaRPr lang="en-US" sz="9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1598" marR="101598" marT="63498" marB="63498" anchor="ctr">
                    <a:lnL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Presentation Material</a:t>
                      </a:r>
                      <a:endParaRPr lang="en-US" sz="9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1598" marR="101598" marT="63498" marB="63498" anchor="ctr">
                    <a:lnL w="12700" cap="flat" cmpd="sng" algn="ctr">
                      <a:solidFill>
                        <a:srgbClr val="142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Handouts / supporting printouts</a:t>
                      </a:r>
                      <a:endParaRPr lang="en-US" sz="9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1598" marR="101598" marT="63498" marB="63498" anchor="ctr">
                    <a:lnL w="12700" cap="flat" cmpd="sng" algn="ctr">
                      <a:solidFill>
                        <a:srgbClr val="142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300</a:t>
                      </a:r>
                      <a:endParaRPr lang="en-US" sz="9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1598" marR="101598" marT="63498" marB="63498" anchor="ctr">
                    <a:lnL w="12700" cap="flat" cmpd="sng" algn="ctr">
                      <a:solidFill>
                        <a:srgbClr val="142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105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6</a:t>
                      </a:r>
                      <a:endParaRPr lang="en-US" sz="9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1598" marR="101598" marT="63498" marB="63498" anchor="ctr">
                    <a:lnL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Contingency</a:t>
                      </a:r>
                      <a:endParaRPr lang="en-US" sz="9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1598" marR="101598" marT="63498" marB="63498" anchor="ctr">
                    <a:lnL w="12700" cap="flat" cmpd="sng" algn="ctr">
                      <a:solidFill>
                        <a:srgbClr val="142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Miscellaneous project expenses</a:t>
                      </a:r>
                      <a:endParaRPr lang="en-US" sz="9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1598" marR="101598" marT="63498" marB="63498" anchor="ctr">
                    <a:lnL w="12700" cap="flat" cmpd="sng" algn="ctr">
                      <a:solidFill>
                        <a:srgbClr val="142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1,200</a:t>
                      </a:r>
                      <a:endParaRPr lang="en-US" sz="9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1598" marR="101598" marT="63498" marB="63498" anchor="ctr">
                    <a:lnL w="12700" cap="flat" cmpd="sng" algn="ctr">
                      <a:solidFill>
                        <a:srgbClr val="142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3043">
                <a:tc grid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1D3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Total</a:t>
                      </a:r>
                      <a:endParaRPr lang="en-US" sz="10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1598" marR="101598" marT="63498" marB="63498" anchor="ctr">
                    <a:lnL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E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EBD0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1D3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₹2,500</a:t>
                      </a:r>
                      <a:endParaRPr lang="en-US" sz="10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1598" marR="101598" marT="63498" marB="63498" anchor="ctr">
                    <a:lnL w="12700" cap="flat" cmpd="sng" algn="ctr">
                      <a:solidFill>
                        <a:srgbClr val="3EE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EBD0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6086" y="5270500"/>
            <a:ext cx="11099522" cy="635000"/>
          </a:xfrm>
          <a:prstGeom prst="roundRect">
            <a:avLst>
              <a:gd name="adj" fmla="val 11520"/>
            </a:avLst>
          </a:prstGeom>
          <a:solidFill>
            <a:srgbClr val="33404D"/>
          </a:solidFill>
          <a:ln/>
        </p:spPr>
      </p:sp>
      <p:sp>
        <p:nvSpPr>
          <p:cNvPr id="9" name="Text 5"/>
          <p:cNvSpPr/>
          <p:nvPr/>
        </p:nvSpPr>
        <p:spPr>
          <a:xfrm>
            <a:off x="698483" y="5397500"/>
            <a:ext cx="11347166" cy="144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CADCFC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Note: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The estimate assumes availability of institutional EDA tools and an FPGA development board. If procurement is required, the budget will be revised accordingly.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590535" y="6096099"/>
            <a:ext cx="9937501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Parameterized SPI IP Core · BMSCE ECE · 2026–27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90535" y="368300"/>
            <a:ext cx="9937501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59" kern="0" dirty="0">
                <a:solidFill>
                  <a:srgbClr val="3EEBD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07 — REFERENCES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90535" y="591245"/>
            <a:ext cx="8718332" cy="441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References</a:t>
            </a:r>
            <a:endParaRPr lang="en-US" sz="2900" dirty="0"/>
          </a:p>
        </p:txBody>
      </p:sp>
      <p:sp>
        <p:nvSpPr>
          <p:cNvPr id="5" name="Text 2"/>
          <p:cNvSpPr/>
          <p:nvPr/>
        </p:nvSpPr>
        <p:spPr>
          <a:xfrm>
            <a:off x="666733" y="1408410"/>
            <a:ext cx="10743931" cy="3839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65760" indent="-365760">
              <a:lnSpc>
                <a:spcPct val="100000"/>
              </a:lnSpc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CADC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A. H. Rahimi, A. K. Halim, A. H. A. Razak, M. F. M. Idros, F. N. Osman, S. A. M. A. Junid and S. L. M. Hassan, “Design and Analysis of Single Master Multiple Slave Serial Peripheral Interface (SPI) on FPGA,” IEEE ICAEE, 2024, DOI: 10.1109/ICAEE62924.2024.10667616.</a:t>
            </a:r>
            <a:endParaRPr lang="en-US" sz="1800" dirty="0"/>
          </a:p>
          <a:p>
            <a:pPr algn="l" marL="365760" indent="-365760">
              <a:lnSpc>
                <a:spcPct val="100000"/>
              </a:lnSpc>
              <a:buSzPct val="100000"/>
              <a:buFont typeface="+mj-lt"/>
              <a:buAutoNum type="arabicPeriod" startAt="2"/>
            </a:pPr>
            <a:r>
              <a:rPr lang="en-US" sz="1800" dirty="0">
                <a:solidFill>
                  <a:srgbClr val="CADC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M. B. Aykenar, G. Soysal and M. Efe, “Design and Implementation of a Lightweight SPI Master IP for Low Cost FPGAs.”</a:t>
            </a:r>
            <a:endParaRPr lang="en-US" sz="1800" dirty="0"/>
          </a:p>
          <a:p>
            <a:pPr algn="l" marL="365760" indent="-365760">
              <a:lnSpc>
                <a:spcPct val="100000"/>
              </a:lnSpc>
              <a:buSzPct val="100000"/>
              <a:buFont typeface="+mj-lt"/>
              <a:buAutoNum type="arabicPeriod" startAt="3"/>
            </a:pPr>
            <a:r>
              <a:rPr lang="en-US" sz="1800" dirty="0">
                <a:solidFill>
                  <a:srgbClr val="CADC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Z. Zhou, Z. Xie, X. Wang and T. Wang, “Development of Verification Environment for SPI Master Interface Using SystemVerilog,” ICSP2012 Proceedings, 2012, DOI: 10.1109/ICoSP.2012.6492015.</a:t>
            </a:r>
            <a:endParaRPr lang="en-US" sz="1800" dirty="0"/>
          </a:p>
          <a:p>
            <a:pPr algn="l" marL="365760" indent="-365760">
              <a:lnSpc>
                <a:spcPct val="100000"/>
              </a:lnSpc>
              <a:buSzPct val="100000"/>
              <a:buFont typeface="+mj-lt"/>
              <a:buAutoNum type="arabicPeriod" startAt="4"/>
            </a:pPr>
            <a:r>
              <a:rPr lang="en-US" sz="1800" dirty="0">
                <a:solidFill>
                  <a:srgbClr val="CADC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“Design and Test of General-Purpose SPI Master/Slave IPs on OPB Bus.”</a:t>
            </a:r>
            <a:endParaRPr lang="en-US" sz="1800" dirty="0"/>
          </a:p>
          <a:p>
            <a:pPr algn="l" marL="365760" indent="-365760">
              <a:lnSpc>
                <a:spcPct val="100000"/>
              </a:lnSpc>
              <a:buSzPct val="100000"/>
              <a:buFont typeface="+mj-lt"/>
              <a:buAutoNum type="arabicPeriod" startAt="5"/>
            </a:pPr>
            <a:r>
              <a:rPr lang="en-US" sz="1800" dirty="0">
                <a:solidFill>
                  <a:srgbClr val="CADC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T. Liu and Y. Wang, “IP Design of Universal Multiple Devices SPI Interface.”</a:t>
            </a:r>
            <a:endParaRPr lang="en-US" sz="1800" dirty="0"/>
          </a:p>
          <a:p>
            <a:pPr algn="l" marL="365760" indent="-365760">
              <a:lnSpc>
                <a:spcPct val="100000"/>
              </a:lnSpc>
              <a:buSzPct val="100000"/>
              <a:buFont typeface="+mj-lt"/>
              <a:buAutoNum type="arabicPeriod" startAt="6"/>
            </a:pPr>
            <a:r>
              <a:rPr lang="en-US" sz="1800" dirty="0">
                <a:solidFill>
                  <a:srgbClr val="CADC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J. Qiang, Y. Gu and G. Chen, “FPGA Implementation of SPI Bus Communication Based on State Machine Method,” Journal of Physics: Conference Series, vol. 1449, 012027, 2020, DOI: 10.1088/1742-6596/1449/1/012027.</a:t>
            </a:r>
            <a:endParaRPr lang="en-US" sz="1800" dirty="0"/>
          </a:p>
          <a:p>
            <a:pPr algn="l" marL="365760" indent="-365760">
              <a:lnSpc>
                <a:spcPct val="100000"/>
              </a:lnSpc>
              <a:buSzPct val="100000"/>
              <a:buFont typeface="+mj-lt"/>
              <a:buAutoNum type="arabicPeriod" startAt="7"/>
            </a:pPr>
            <a:r>
              <a:rPr lang="en-US" sz="1800" dirty="0">
                <a:solidFill>
                  <a:srgbClr val="CADC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D. Wang, J. Yan and Y. Qiao, “Design and Verification of SPI Bus IP Core,” Journal of Physics: Conference Series, vol. 1971, 012032, 2021, DOI: 10.1088/1742-6596/1971/1/012032.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90535" y="6096099"/>
            <a:ext cx="9937501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Parameterized SPI IP Core · BMSCE ECE · 2026–27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34984" y="1676400"/>
            <a:ext cx="10864578" cy="1005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4" name="Text 1"/>
          <p:cNvSpPr/>
          <p:nvPr/>
        </p:nvSpPr>
        <p:spPr>
          <a:xfrm>
            <a:off x="634984" y="2794000"/>
            <a:ext cx="10864578" cy="365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3EEBD0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Questions &amp; Discussion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330192" y="3581400"/>
            <a:ext cx="11474163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Mohammad Yasir · Paladugula Ajay Kumar · Palreddigari Navadeep Kumar Reddy · Lokesha NN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34984" y="4013200"/>
            <a:ext cx="10921727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FB3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B.M.S. College of Engineering, Bengaluru</a:t>
            </a:r>
            <a:endParaRPr lang="en-US" sz="1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FB3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Department of Electronics &amp; Communication Engineering</a:t>
            </a:r>
            <a:endParaRPr lang="en-US" sz="1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3EEBD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Guide:</a:t>
            </a:r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Mr. Ajay Kumar D · Assistant Professor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 rot="8400">
            <a:off x="1650959" y="5257800"/>
            <a:ext cx="8889778" cy="25400"/>
          </a:xfrm>
          <a:prstGeom prst="rect">
            <a:avLst/>
          </a:prstGeom>
          <a:solidFill>
            <a:srgbClr val="3EEBD0"/>
          </a:solidFill>
          <a:ln/>
        </p:spPr>
      </p:sp>
      <p:sp>
        <p:nvSpPr>
          <p:cNvPr id="8" name="Text 5"/>
          <p:cNvSpPr/>
          <p:nvPr/>
        </p:nvSpPr>
        <p:spPr>
          <a:xfrm>
            <a:off x="330192" y="5435600"/>
            <a:ext cx="1153131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3EEBD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MASTER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─── SCLK ─── MOSI ─── MISO ─── CS ─── </a:t>
            </a:r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3EEBD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SLAVE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30192" y="6388199"/>
            <a:ext cx="11474163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9FB3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Parameterized SPI IP Core · BMSCE ECE · 2026–27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2026-09-23T18:08:02Z</dcterms:created>
  <dcterms:modified xsi:type="dcterms:W3CDTF">2026-09-23T18:08:02Z</dcterms:modified>
</cp:coreProperties>
</file>