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6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9928" y="965200"/>
            <a:ext cx="1108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VLSI MINI PROJECT · RTL/DV SYNOPSIS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9928" y="1188145"/>
            <a:ext cx="9861303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Parameterized SPI IP Core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69928" y="2012355"/>
            <a:ext cx="1108047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RTL Design, SystemVerilog Verification and FPGA Characterization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9928" y="3605609"/>
            <a:ext cx="9537461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Mohammad Yasir (1BF24EC078) • Paladugala Ajay Kumar (1BF24EC099) • Palreddigari Navadeep Kumar Reddy (1BF24EC100) • Lokesha  NN (1BM25EC424)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Guide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Mr. Ajay Kumar D · Assistant Professor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9928" y="4529931"/>
            <a:ext cx="95374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B.M.S. College of Engineering, Bengaluru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of Electronics &amp; Communication Engineering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Year 2026–27 · Mini Project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9928" y="63754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01 — OVERVIEW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SPI Connects Digital Devices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09585" y="1574800"/>
            <a:ext cx="5105272" cy="3937099"/>
          </a:xfrm>
          <a:prstGeom prst="roundRect">
            <a:avLst>
              <a:gd name="adj" fmla="val 2322"/>
            </a:avLst>
          </a:prstGeom>
          <a:solidFill>
            <a:srgbClr val="142C4F"/>
          </a:solidFill>
          <a:ln/>
        </p:spPr>
      </p:sp>
      <p:sp>
        <p:nvSpPr>
          <p:cNvPr id="6" name="Text 3"/>
          <p:cNvSpPr/>
          <p:nvPr/>
        </p:nvSpPr>
        <p:spPr>
          <a:xfrm>
            <a:off x="888978" y="1803400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 / SLAVE PROTOCOL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152650"/>
            <a:ext cx="463915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 is synchronous serial communication between a controller and one or more peripherals.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8978" y="2697460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FOUR CORE SIGNALS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8978" y="3046512"/>
            <a:ext cx="458895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 clock · MOSI Master-to-Slave · MISO Slave-to-Master · CS/SS selects the active Slave.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8978" y="3591421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FULL DUPLEX, FOUR MODES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8978" y="3954463"/>
            <a:ext cx="59572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Simultaneous send/receive; CPOL and CPHA define four clocking modes.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88978" y="4302423"/>
            <a:ext cx="57085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PARAMETERIZE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8978" y="4651673"/>
            <a:ext cx="448933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width, clock settings and slave configurations should adapt without rewriting the RTL.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32429" y="1803400"/>
            <a:ext cx="1828754" cy="711200"/>
          </a:xfrm>
          <a:prstGeom prst="roundRect">
            <a:avLst>
              <a:gd name="adj" fmla="val 12857"/>
            </a:avLst>
          </a:prstGeom>
          <a:solidFill>
            <a:srgbClr val="3EEBD0"/>
          </a:solidFill>
          <a:ln/>
        </p:spPr>
      </p:sp>
      <p:sp>
        <p:nvSpPr>
          <p:cNvPr id="15" name="Text 12"/>
          <p:cNvSpPr/>
          <p:nvPr/>
        </p:nvSpPr>
        <p:spPr>
          <a:xfrm>
            <a:off x="6324442" y="2052439"/>
            <a:ext cx="284472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 rot="66000">
            <a:off x="8660985" y="2159000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17" name="Text 14"/>
          <p:cNvSpPr/>
          <p:nvPr/>
        </p:nvSpPr>
        <p:spPr>
          <a:xfrm>
            <a:off x="8946926" y="2159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MOSI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 rot="66000">
            <a:off x="8660985" y="2413000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19" name="Text 16"/>
          <p:cNvSpPr/>
          <p:nvPr/>
        </p:nvSpPr>
        <p:spPr>
          <a:xfrm>
            <a:off x="8946926" y="2413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 rot="66000">
            <a:off x="8660985" y="2667099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1" name="Text 18"/>
          <p:cNvSpPr/>
          <p:nvPr/>
        </p:nvSpPr>
        <p:spPr>
          <a:xfrm>
            <a:off x="8946926" y="2667099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CS/SS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 rot="66000">
            <a:off x="8660985" y="2921099"/>
            <a:ext cx="1320965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3" name="Text 20"/>
          <p:cNvSpPr/>
          <p:nvPr/>
        </p:nvSpPr>
        <p:spPr>
          <a:xfrm>
            <a:off x="8946926" y="1905000"/>
            <a:ext cx="180970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0032749" y="1892300"/>
            <a:ext cx="1219170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5" name="Text 22"/>
          <p:cNvSpPr/>
          <p:nvPr/>
        </p:nvSpPr>
        <p:spPr>
          <a:xfrm>
            <a:off x="9473963" y="2057400"/>
            <a:ext cx="23367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SLAVE 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032749" y="2565499"/>
            <a:ext cx="1219170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7" name="Text 24"/>
          <p:cNvSpPr/>
          <p:nvPr/>
        </p:nvSpPr>
        <p:spPr>
          <a:xfrm>
            <a:off x="9473963" y="2730599"/>
            <a:ext cx="23367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SLAVE 1…N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03835" y="3810099"/>
            <a:ext cx="4571886" cy="1168400"/>
          </a:xfrm>
          <a:prstGeom prst="roundRect">
            <a:avLst>
              <a:gd name="adj" fmla="val 7826"/>
            </a:avLst>
          </a:prstGeom>
          <a:solidFill>
            <a:srgbClr val="33404D"/>
          </a:solidFill>
          <a:ln/>
        </p:spPr>
      </p:sp>
      <p:sp>
        <p:nvSpPr>
          <p:cNvPr id="29" name="Text 26"/>
          <p:cNvSpPr/>
          <p:nvPr/>
        </p:nvSpPr>
        <p:spPr>
          <a:xfrm>
            <a:off x="6832429" y="3987899"/>
            <a:ext cx="527671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CLOCK MODE STRIP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32429" y="4320480"/>
            <a:ext cx="527671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CPOL + CPHA → Mode 0 | 1 | 2 | 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6733" y="5791299"/>
            <a:ext cx="11524962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Project motivation: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Combine configurable RTL, systematic SystemVerilog verification and FPGA characterization in one coherent flow.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02 — PRIOR WORK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Literature Survey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473200"/>
            <a:ext cx="11099522" cy="3810099"/>
          </a:xfrm>
          <a:prstGeom prst="roundRect">
            <a:avLst>
              <a:gd name="adj" fmla="val 1920"/>
            </a:avLst>
          </a:prstGeom>
          <a:solidFill>
            <a:srgbClr val="142C4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086" y="1473200"/>
          <a:ext cx="9143771" cy="914400"/>
        </p:xfrm>
        <a:graphic>
          <a:graphicData uri="http://schemas.openxmlformats.org/drawingml/2006/table">
            <a:tbl>
              <a:tblPr/>
              <a:tblGrid>
                <a:gridCol w="3218862"/>
                <a:gridCol w="4772795"/>
                <a:gridCol w="3107866"/>
              </a:tblGrid>
              <a:tr h="3552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Work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Contribution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Relevance to This Project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Single Master Multiple Slave SPI on FPGA — IEEE ICAEE, 2024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Verilog multi-slave SPI with FSM control, simulation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 Master/Slave and multi-slave architecture.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Lightweight SPI Master IP for Low Cost FPGAs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Resource-conscious configurable clock, CPOL/CPHA and FPGA resource evaluation.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Motivates parameterization and hardware characterization.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SystemVerilog Verification Environment for SPI Master — ICSP, 2012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Driver, slave model, scoreboard, assertions, constrained-random tests and coverage.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the structured verification methodology.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General-Purpose SPI Master/Slave IPs on OPB Bus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Configurable technology-independent Master/Slave IP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Established configurable IP approach.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Universal Multiple Devices SPI Interface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Parameterized device selection and multi-device control.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Background for scalable slave selection.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9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SPI Bus on FPGA Using State Machine Method — JPCS, 2020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State-machine implementation with SPI timing-mode considerations.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FSM-based RTL and FPGA implementation.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3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Design and Verification of SPI Bus IP Core — JPCS, 2021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IP development, structured verification and multiple timing modes.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ADCF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Supports IP-oriented design and verification.</a:t>
                      </a:r>
                      <a:endParaRPr lang="en-US" sz="8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311" marB="91311" anchor="ctr">
                    <a:lnL w="12700" cap="flat" cmpd="sng" algn="ctr">
                      <a:solidFill>
                        <a:srgbClr val="0B1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6086" y="5651599"/>
            <a:ext cx="11099522" cy="584200"/>
          </a:xfrm>
          <a:prstGeom prst="roundRect">
            <a:avLst>
              <a:gd name="adj" fmla="val 12521"/>
            </a:avLst>
          </a:prstGeom>
          <a:solidFill>
            <a:srgbClr val="EAF9F6"/>
          </a:solidFill>
          <a:ln/>
        </p:spPr>
      </p:sp>
      <p:sp>
        <p:nvSpPr>
          <p:cNvPr id="8" name="Text 4"/>
          <p:cNvSpPr/>
          <p:nvPr/>
        </p:nvSpPr>
        <p:spPr>
          <a:xfrm>
            <a:off x="749281" y="5765899"/>
            <a:ext cx="1144241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Observation: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These individual techniques are established. This project integrates them into one configurable SPI IP flow and plans systematic FPGA characterization.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03 — WHAT WE’RE SOLVING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Problem Statement &amp; Proposed Solution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524000"/>
            <a:ext cx="5130672" cy="2921099"/>
          </a:xfrm>
          <a:prstGeom prst="roundRect">
            <a:avLst>
              <a:gd name="adj" fmla="val 3130"/>
            </a:avLst>
          </a:prstGeom>
          <a:solidFill>
            <a:srgbClr val="33404D"/>
          </a:solidFill>
          <a:ln/>
        </p:spPr>
      </p:sp>
      <p:sp>
        <p:nvSpPr>
          <p:cNvPr id="6" name="Text 3"/>
          <p:cNvSpPr/>
          <p:nvPr/>
        </p:nvSpPr>
        <p:spPr>
          <a:xfrm>
            <a:off x="825479" y="1738610"/>
            <a:ext cx="4571886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SPI implementations often prioritize functional communication over reusable configuration and systematic validation.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5479" y="2617391"/>
            <a:ext cx="4571886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data widths, clocks, modes and slave counts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Configuration-dependent FPGA resource and timing effects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waveform inspection alone is insufficient for systematic verification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19649" y="1524000"/>
            <a:ext cx="5130672" cy="3175099"/>
          </a:xfrm>
          <a:prstGeom prst="roundRect">
            <a:avLst>
              <a:gd name="adj" fmla="val 2880"/>
            </a:avLst>
          </a:prstGeom>
          <a:solidFill>
            <a:srgbClr val="EAF9F6"/>
          </a:solidFill>
          <a:ln/>
        </p:spPr>
      </p:sp>
      <p:sp>
        <p:nvSpPr>
          <p:cNvPr id="9" name="Text 6"/>
          <p:cNvSpPr/>
          <p:nvPr/>
        </p:nvSpPr>
        <p:spPr>
          <a:xfrm>
            <a:off x="6299042" y="1738610"/>
            <a:ext cx="4514737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PROPOSED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parameterized SPI Master/Slave RTL core with 8 / 16 / 32-bit words, all CPOL/CPHA modes, configurable clock division and 1 / 2 / 4 slaves.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99042" y="2617391"/>
            <a:ext cx="4571886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Self-checking SystemVerilog: driver, monitor, scoreboard, assertions, functional coverage, constrained-random testing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Controlled fault injection: sampling edge, bit counter and CS timing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FPGA characterization: LUTs, flip-flops, Fmax, critical path and transfer latency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6086" y="4699099"/>
            <a:ext cx="10591535" cy="431800"/>
          </a:xfrm>
          <a:prstGeom prst="roundRect">
            <a:avLst>
              <a:gd name="adj" fmla="val 16941"/>
            </a:avLst>
          </a:prstGeom>
          <a:solidFill>
            <a:srgbClr val="3EEBD0"/>
          </a:solidFill>
          <a:ln/>
        </p:spPr>
      </p:sp>
      <p:sp>
        <p:nvSpPr>
          <p:cNvPr id="12" name="Text 9"/>
          <p:cNvSpPr/>
          <p:nvPr/>
        </p:nvSpPr>
        <p:spPr>
          <a:xfrm>
            <a:off x="114297" y="4808339"/>
            <a:ext cx="114551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Design → Verify → Implement → Measure → Analyze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235" y="5193109"/>
            <a:ext cx="1042008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F5F9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Engineering Question: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How do configurable parameters such as data width and slave count affect FPGA resource utilization, timing and performance, while systematic verification ensures correctness across supported SPI modes?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7178" y="6614616"/>
            <a:ext cx="35964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04A —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Methodology — System Block Diagram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85783" y="1409700"/>
            <a:ext cx="1803355" cy="558800"/>
          </a:xfrm>
          <a:prstGeom prst="roundRect">
            <a:avLst>
              <a:gd name="adj" fmla="val 13091"/>
            </a:avLst>
          </a:prstGeom>
          <a:solidFill>
            <a:srgbClr val="33404D"/>
          </a:solidFill>
          <a:ln/>
        </p:spPr>
      </p:sp>
      <p:sp>
        <p:nvSpPr>
          <p:cNvPr id="6" name="Text 3"/>
          <p:cNvSpPr/>
          <p:nvPr/>
        </p:nvSpPr>
        <p:spPr>
          <a:xfrm>
            <a:off x="165096" y="1605260"/>
            <a:ext cx="284472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CONTROL / TEST INPUT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5336" y="1524000"/>
            <a:ext cx="660383" cy="330200"/>
          </a:xfrm>
          <a:custGeom>
            <a:avLst/>
            <a:gdLst/>
            <a:ahLst/>
            <a:cxnLst/>
            <a:rect l="l" t="t" r="r" b="b"/>
            <a:pathLst>
              <a:path w="660383" h="330200">
                <a:moveTo>
                  <a:pt x="0" y="82550"/>
                </a:moveTo>
                <a:lnTo>
                  <a:pt x="495288" y="82550"/>
                </a:lnTo>
                <a:lnTo>
                  <a:pt x="495288" y="0"/>
                </a:lnTo>
                <a:lnTo>
                  <a:pt x="660383" y="165100"/>
                </a:lnTo>
                <a:lnTo>
                  <a:pt x="495288" y="330200"/>
                </a:lnTo>
                <a:lnTo>
                  <a:pt x="495288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3EEBD0"/>
          </a:solidFill>
          <a:ln/>
        </p:spPr>
      </p:sp>
      <p:sp>
        <p:nvSpPr>
          <p:cNvPr id="8" name="Shape 5"/>
          <p:cNvSpPr/>
          <p:nvPr/>
        </p:nvSpPr>
        <p:spPr>
          <a:xfrm>
            <a:off x="3352716" y="1333500"/>
            <a:ext cx="4381390" cy="2768699"/>
          </a:xfrm>
          <a:prstGeom prst="roundRect">
            <a:avLst>
              <a:gd name="adj" fmla="val 3303"/>
            </a:avLst>
          </a:prstGeom>
          <a:solidFill>
            <a:srgbClr val="142C4F"/>
          </a:solidFill>
          <a:ln w="12700">
            <a:solidFill>
              <a:srgbClr val="3EEB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59026" y="1524000"/>
            <a:ext cx="51687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MASTER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568611" y="19177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1" name="Text 8"/>
          <p:cNvSpPr/>
          <p:nvPr/>
        </p:nvSpPr>
        <p:spPr>
          <a:xfrm>
            <a:off x="3263818" y="20701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FSM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19609" y="19177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3" name="Text 10"/>
          <p:cNvSpPr/>
          <p:nvPr/>
        </p:nvSpPr>
        <p:spPr>
          <a:xfrm>
            <a:off x="5314817" y="20701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Clock Divider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8611" y="25273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5" name="Text 12"/>
          <p:cNvSpPr/>
          <p:nvPr/>
        </p:nvSpPr>
        <p:spPr>
          <a:xfrm>
            <a:off x="3263818" y="26797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TX Shift Register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19609" y="2527300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7" name="Text 14"/>
          <p:cNvSpPr/>
          <p:nvPr/>
        </p:nvSpPr>
        <p:spPr>
          <a:xfrm>
            <a:off x="5314817" y="2679700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RX Shift Register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68611" y="3136702"/>
            <a:ext cx="1898603" cy="457200"/>
          </a:xfrm>
          <a:prstGeom prst="rect">
            <a:avLst/>
          </a:prstGeom>
          <a:solidFill>
            <a:srgbClr val="33404D"/>
          </a:solidFill>
          <a:ln/>
        </p:spPr>
      </p:sp>
      <p:sp>
        <p:nvSpPr>
          <p:cNvPr id="19" name="Text 16"/>
          <p:cNvSpPr/>
          <p:nvPr/>
        </p:nvSpPr>
        <p:spPr>
          <a:xfrm>
            <a:off x="3263818" y="3289102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Bit Counter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19609" y="3136702"/>
            <a:ext cx="1898603" cy="4572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21" name="Text 18"/>
          <p:cNvSpPr/>
          <p:nvPr/>
        </p:nvSpPr>
        <p:spPr>
          <a:xfrm>
            <a:off x="5314817" y="3289102"/>
            <a:ext cx="2508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Chip-Select Logic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35704" y="2413000"/>
            <a:ext cx="736582" cy="355600"/>
          </a:xfrm>
          <a:custGeom>
            <a:avLst/>
            <a:gdLst/>
            <a:ahLst/>
            <a:cxnLst/>
            <a:rect l="l" t="t" r="r" b="b"/>
            <a:pathLst>
              <a:path w="736582" h="355600">
                <a:moveTo>
                  <a:pt x="0" y="88900"/>
                </a:moveTo>
                <a:lnTo>
                  <a:pt x="558771" y="88900"/>
                </a:lnTo>
                <a:lnTo>
                  <a:pt x="558771" y="0"/>
                </a:lnTo>
                <a:lnTo>
                  <a:pt x="736582" y="177800"/>
                </a:lnTo>
                <a:lnTo>
                  <a:pt x="558771" y="355600"/>
                </a:lnTo>
                <a:lnTo>
                  <a:pt x="558771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3EEBD0"/>
          </a:solidFill>
          <a:ln/>
        </p:spPr>
      </p:sp>
      <p:sp>
        <p:nvSpPr>
          <p:cNvPr id="23" name="Shape 20"/>
          <p:cNvSpPr/>
          <p:nvPr/>
        </p:nvSpPr>
        <p:spPr>
          <a:xfrm>
            <a:off x="8648484" y="1676400"/>
            <a:ext cx="1333467" cy="1955800"/>
          </a:xfrm>
          <a:prstGeom prst="roundRect">
            <a:avLst>
              <a:gd name="adj" fmla="val 5486"/>
            </a:avLst>
          </a:prstGeom>
          <a:solidFill>
            <a:srgbClr val="33404D"/>
          </a:solidFill>
          <a:ln/>
        </p:spPr>
      </p:sp>
      <p:sp>
        <p:nvSpPr>
          <p:cNvPr id="24" name="Text 21"/>
          <p:cNvSpPr/>
          <p:nvPr/>
        </p:nvSpPr>
        <p:spPr>
          <a:xfrm>
            <a:off x="8775480" y="1789410"/>
            <a:ext cx="107947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BUS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SCLK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MOSI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185145" y="1511300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6" name="Text 23"/>
          <p:cNvSpPr/>
          <p:nvPr/>
        </p:nvSpPr>
        <p:spPr>
          <a:xfrm>
            <a:off x="9639059" y="1676400"/>
            <a:ext cx="2133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CS0 → Slave0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185145" y="2235200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28" name="Text 25"/>
          <p:cNvSpPr/>
          <p:nvPr/>
        </p:nvSpPr>
        <p:spPr>
          <a:xfrm>
            <a:off x="9639059" y="2400300"/>
            <a:ext cx="2133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CS1 → Slave1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185145" y="2959199"/>
            <a:ext cx="1041374" cy="482600"/>
          </a:xfrm>
          <a:prstGeom prst="roundRect">
            <a:avLst>
              <a:gd name="adj" fmla="val 15158"/>
            </a:avLst>
          </a:prstGeom>
          <a:solidFill>
            <a:srgbClr val="33404D"/>
          </a:solidFill>
          <a:ln/>
        </p:spPr>
      </p:sp>
      <p:sp>
        <p:nvSpPr>
          <p:cNvPr id="30" name="Text 27"/>
          <p:cNvSpPr/>
          <p:nvPr/>
        </p:nvSpPr>
        <p:spPr>
          <a:xfrm>
            <a:off x="10248644" y="3034109"/>
            <a:ext cx="9143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CS(N−1) → Slave(N−1)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705632" y="3733899"/>
            <a:ext cx="3486063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EEB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slave count: 1 / 2 / 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85783" y="4445099"/>
            <a:ext cx="10540736" cy="685800"/>
          </a:xfrm>
          <a:prstGeom prst="roundRect">
            <a:avLst>
              <a:gd name="adj" fmla="val 10666"/>
            </a:avLst>
          </a:prstGeom>
          <a:solidFill>
            <a:srgbClr val="33404D"/>
          </a:solidFill>
          <a:ln/>
        </p:spPr>
      </p:sp>
      <p:sp>
        <p:nvSpPr>
          <p:cNvPr id="33" name="Text 30"/>
          <p:cNvSpPr/>
          <p:nvPr/>
        </p:nvSpPr>
        <p:spPr>
          <a:xfrm>
            <a:off x="888978" y="4558109"/>
            <a:ext cx="10134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PARAMETERS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  DATA_WIDTH: 8 / 16 / 32  ·  CPOL: 0 / 1  ·  CPHA: 0 / 1  ·  CLK_DIV: configurable  ·  SLAVE_COUNT: 1 / 2 / 4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RTL BUILDING BLOCKS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  FSM · Shift Registers · Bit Counter · Clock Divider · Chip-Select Logic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2931" y="5397599"/>
            <a:ext cx="1144876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Scope boundary: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Master and Slave operate in the same FPGA clock domain. Asynchronous CDC between independently clocked domains is outside current scope.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90535" y="59436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04B — ALGORITHM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Methodology — Transfer Flow &amp; Verification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58786" y="1409700"/>
            <a:ext cx="11074123" cy="2032000"/>
          </a:xfrm>
          <a:prstGeom prst="roundRect">
            <a:avLst>
              <a:gd name="adj" fmla="val 4500"/>
            </a:avLst>
          </a:prstGeom>
          <a:solidFill>
            <a:srgbClr val="142C4F"/>
          </a:solidFill>
          <a:ln/>
        </p:spPr>
      </p:sp>
      <p:sp>
        <p:nvSpPr>
          <p:cNvPr id="6" name="Text 3"/>
          <p:cNvSpPr/>
          <p:nvPr/>
        </p:nvSpPr>
        <p:spPr>
          <a:xfrm>
            <a:off x="787380" y="1587500"/>
            <a:ext cx="114043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SPI TRANSFER FLOW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1568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" name="Shape 5"/>
          <p:cNvSpPr/>
          <p:nvPr/>
        </p:nvSpPr>
        <p:spPr>
          <a:xfrm>
            <a:off x="787380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9" name="Text 6"/>
          <p:cNvSpPr/>
          <p:nvPr/>
        </p:nvSpPr>
        <p:spPr>
          <a:xfrm>
            <a:off x="1762081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15975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START /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LOAD TX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24896" y="1949748"/>
            <a:ext cx="2094753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2" name="Shape 9"/>
          <p:cNvSpPr/>
          <p:nvPr/>
        </p:nvSpPr>
        <p:spPr>
          <a:xfrm>
            <a:off x="2910708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13" name="Text 10"/>
          <p:cNvSpPr/>
          <p:nvPr/>
        </p:nvSpPr>
        <p:spPr>
          <a:xfrm>
            <a:off x="3885408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139302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ASSERT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SELECTED 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48322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6" name="Shape 13"/>
          <p:cNvSpPr/>
          <p:nvPr/>
        </p:nvSpPr>
        <p:spPr>
          <a:xfrm>
            <a:off x="5034134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17" name="Text 14"/>
          <p:cNvSpPr/>
          <p:nvPr/>
        </p:nvSpPr>
        <p:spPr>
          <a:xfrm>
            <a:off x="6008835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5262728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GENERATE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SCLK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71749" y="1949748"/>
            <a:ext cx="2094753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57362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21" name="Text 18"/>
          <p:cNvSpPr/>
          <p:nvPr/>
        </p:nvSpPr>
        <p:spPr>
          <a:xfrm>
            <a:off x="8132162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7385957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SHIFT +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295076" y="1949748"/>
            <a:ext cx="2094654" cy="885825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4" name="Shape 21"/>
          <p:cNvSpPr/>
          <p:nvPr/>
        </p:nvSpPr>
        <p:spPr>
          <a:xfrm>
            <a:off x="9280888" y="1935460"/>
            <a:ext cx="2123327" cy="914400"/>
          </a:xfrm>
          <a:prstGeom prst="rect">
            <a:avLst/>
          </a:prstGeom>
          <a:solidFill>
            <a:srgbClr val="C8CBCF"/>
          </a:solidFill>
          <a:ln/>
        </p:spPr>
      </p:sp>
      <p:sp>
        <p:nvSpPr>
          <p:cNvPr id="25" name="Text 22"/>
          <p:cNvSpPr/>
          <p:nvPr/>
        </p:nvSpPr>
        <p:spPr>
          <a:xfrm>
            <a:off x="10255589" y="2221210"/>
            <a:ext cx="7262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9509482" y="2927350"/>
            <a:ext cx="1666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BIT COUNTER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REACHES N?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8786" y="3708499"/>
            <a:ext cx="5333867" cy="1968500"/>
          </a:xfrm>
          <a:prstGeom prst="roundRect">
            <a:avLst>
              <a:gd name="adj" fmla="val 4645"/>
            </a:avLst>
          </a:prstGeom>
          <a:solidFill>
            <a:srgbClr val="33404D"/>
          </a:solidFill>
          <a:ln/>
        </p:spPr>
      </p:sp>
      <p:sp>
        <p:nvSpPr>
          <p:cNvPr id="28" name="Text 25"/>
          <p:cNvSpPr/>
          <p:nvPr/>
        </p:nvSpPr>
        <p:spPr>
          <a:xfrm>
            <a:off x="787380" y="3886299"/>
            <a:ext cx="603869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SYSTEMVERILOG VERIFICATION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77796" y="4234259"/>
            <a:ext cx="609584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TEST / DRIVER → DUT → MONITOR → SCOREBOARD → PASS / FAIL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7380" y="4568230"/>
            <a:ext cx="4819529" cy="7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Directed and constrained-random tests; scoreboard checks; assertions; functional coverage.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CPOL/CPHA modes; 8 / 16 / 32-bit configurations; reset, back-to-back transfers, 1 / 2 / 4 slaves and data patterns.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84745" y="3708499"/>
            <a:ext cx="5448164" cy="1968500"/>
          </a:xfrm>
          <a:prstGeom prst="roundRect">
            <a:avLst>
              <a:gd name="adj" fmla="val 4645"/>
            </a:avLst>
          </a:prstGeom>
          <a:solidFill>
            <a:srgbClr val="EAF9F6"/>
          </a:solidFill>
          <a:ln/>
        </p:spPr>
      </p:sp>
      <p:sp>
        <p:nvSpPr>
          <p:cNvPr id="32" name="Text 29"/>
          <p:cNvSpPr/>
          <p:nvPr/>
        </p:nvSpPr>
        <p:spPr>
          <a:xfrm>
            <a:off x="6413340" y="3886299"/>
            <a:ext cx="577835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E8C7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CONTROLLED BUG DETECTION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13340" y="4234259"/>
            <a:ext cx="577835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Sampling-edge fault · Bit-counter fault · CS-timing fault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13340" y="4545310"/>
            <a:ext cx="4990975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Injected Bug → Verification Failure → Waveform / Assertion Analysis → Root-Cause Identification → RTL Fix → Regression Pass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15935" y="5867499"/>
            <a:ext cx="1157576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Goal: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systematically verify functional correctness and demonstrate detection of realistic protocol and RTL faults.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0535" y="65024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A8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05 — TIMELINE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Project Planning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 rot="9600">
            <a:off x="1422364" y="2247900"/>
            <a:ext cx="9346966" cy="25400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6" name="Shape 3"/>
          <p:cNvSpPr/>
          <p:nvPr/>
        </p:nvSpPr>
        <p:spPr>
          <a:xfrm>
            <a:off x="115567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7" name="Text 4"/>
          <p:cNvSpPr/>
          <p:nvPr/>
        </p:nvSpPr>
        <p:spPr>
          <a:xfrm>
            <a:off x="90802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863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SETUP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1–2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 study, specification, architecture and interface definition.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2716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0" name="Text 7"/>
          <p:cNvSpPr/>
          <p:nvPr/>
        </p:nvSpPr>
        <p:spPr>
          <a:xfrm>
            <a:off x="3105072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25679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RTL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3–5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Master, Slave, clock generation, parameterization and initial simulation.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4976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3" name="Text 10"/>
          <p:cNvSpPr/>
          <p:nvPr/>
        </p:nvSpPr>
        <p:spPr>
          <a:xfrm>
            <a:off x="530211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272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VERIFICATION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6–9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Driver, monitor, scoreboard, constrained-random tests, assertions and coverage.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46806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6" name="Text 13"/>
          <p:cNvSpPr/>
          <p:nvPr/>
        </p:nvSpPr>
        <p:spPr>
          <a:xfrm>
            <a:off x="7499162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19769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FPGA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10–12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Synthesis, implementation, utilization, timing and configuration comparison.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43851" y="1841500"/>
            <a:ext cx="812780" cy="812800"/>
          </a:xfrm>
          <a:prstGeom prst="ellipse">
            <a:avLst/>
          </a:prstGeom>
          <a:solidFill>
            <a:srgbClr val="3EEBD0"/>
          </a:solidFill>
          <a:ln/>
        </p:spPr>
      </p:sp>
      <p:sp>
        <p:nvSpPr>
          <p:cNvPr id="19" name="Text 16"/>
          <p:cNvSpPr/>
          <p:nvPr/>
        </p:nvSpPr>
        <p:spPr>
          <a:xfrm>
            <a:off x="9696207" y="2082800"/>
            <a:ext cx="130806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416814" y="2843609"/>
            <a:ext cx="185415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RESULTS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 13–14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 analysis, interpretation, documentation and final presentation.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6086" y="4851499"/>
            <a:ext cx="11099522" cy="736600"/>
          </a:xfrm>
          <a:prstGeom prst="roundRect">
            <a:avLst>
              <a:gd name="adj" fmla="val 12413"/>
            </a:avLst>
          </a:prstGeom>
          <a:solidFill>
            <a:srgbClr val="EAF9F6"/>
          </a:solidFill>
          <a:ln/>
        </p:spPr>
      </p:sp>
      <p:sp>
        <p:nvSpPr>
          <p:cNvPr id="22" name="Text 19"/>
          <p:cNvSpPr/>
          <p:nvPr/>
        </p:nvSpPr>
        <p:spPr>
          <a:xfrm>
            <a:off x="749281" y="4964509"/>
            <a:ext cx="10693132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Execution principles: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verification begins with stable RTL blocks; feature freeze precedes FPGA characterization.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 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 responsibilities: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RTL Design · Verification · FPGA/Characterization · Documentation/Integration.   </a:t>
            </a:r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Target: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B1D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approximately 14 weeks.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06 — BUDGET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2534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Estimated Budget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6086" y="1397000"/>
            <a:ext cx="11099522" cy="3746500"/>
          </a:xfrm>
          <a:prstGeom prst="roundRect">
            <a:avLst>
              <a:gd name="adj" fmla="val 1952"/>
            </a:avLst>
          </a:prstGeom>
          <a:solidFill>
            <a:srgbClr val="142C4F"/>
          </a:solidFill>
          <a:ln/>
        </p:spPr>
      </p:sp>
      <p:sp>
        <p:nvSpPr>
          <p:cNvPr id="6" name="Shape 3"/>
          <p:cNvSpPr/>
          <p:nvPr/>
        </p:nvSpPr>
        <p:spPr>
          <a:xfrm>
            <a:off x="546086" y="1397000"/>
            <a:ext cx="11099522" cy="2195909"/>
          </a:xfrm>
          <a:prstGeom prst="roundRect">
            <a:avLst>
              <a:gd name="adj" fmla="val 1562"/>
            </a:avLst>
          </a:prstGeom>
          <a:solidFill>
            <a:srgbClr val="142C4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086" y="1397000"/>
          <a:ext cx="9143771" cy="914400"/>
        </p:xfrm>
        <a:graphic>
          <a:graphicData uri="http://schemas.openxmlformats.org/drawingml/2006/table">
            <a:tbl>
              <a:tblPr/>
              <a:tblGrid>
                <a:gridCol w="1109952"/>
                <a:gridCol w="2774881"/>
                <a:gridCol w="4994785"/>
                <a:gridCol w="2219905"/>
              </a:tblGrid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Sl. No.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Item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Justification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Estimated Cost (INR)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34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04D"/>
                    </a:solidFill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EDA / Simulation Tools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Academic/institutional access assumed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FPGA Development Board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College/team-provided board assumed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Nil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SPI Peripheral / Components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Optional peripheral, connectors and basic hardware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 Printing and Binding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Project documentation and submission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Presentation Material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Handouts / supporting printouts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Contingency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Miscellaneous project expenses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1,200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42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043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E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BD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₹2,500</a:t>
                      </a:r>
                      <a:endParaRPr lang="en-US" sz="10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3EE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5F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EBD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6086" y="5270500"/>
            <a:ext cx="11099522" cy="635000"/>
          </a:xfrm>
          <a:prstGeom prst="roundRect">
            <a:avLst>
              <a:gd name="adj" fmla="val 11520"/>
            </a:avLst>
          </a:prstGeom>
          <a:solidFill>
            <a:srgbClr val="33404D"/>
          </a:solidFill>
          <a:ln/>
        </p:spPr>
      </p:sp>
      <p:sp>
        <p:nvSpPr>
          <p:cNvPr id="9" name="Text 5"/>
          <p:cNvSpPr/>
          <p:nvPr/>
        </p:nvSpPr>
        <p:spPr>
          <a:xfrm>
            <a:off x="698483" y="5397500"/>
            <a:ext cx="11347166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ADCF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Note: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estimate assumes availability of institutional EDA tools and an FPGA development board. If procurement is required, the budget will be revised accordingly.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35" y="368300"/>
            <a:ext cx="99375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9" kern="0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07 — REFERENCES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0535" y="591245"/>
            <a:ext cx="871833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66733" y="1408410"/>
            <a:ext cx="10743931" cy="383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A. H. Rahimi, A. K. Halim, A. H. A. Razak, M. F. M. Idros, F. N. Osman, S. A. M. A. Junid and S. L. M. Hassan, “Design and Analysis of Single Master Multiple Slave Serial Peripheral Interface (SPI) on FPGA,” IEEE ICAEE, 2024, DOI: 10.1109/ICAEE62924.2024.10667616.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M. B. Aykenar, G. Soysal and M. Efe, “Design and Implementation of a Lightweight SPI Master IP for Low Cost FPGAs.”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Z. Zhou, Z. Xie, X. Wang and T. Wang, “Development of Verification Environment for SPI Master Interface Using SystemVerilog,” ICSP2012 Proceedings, 2012, DOI: 10.1109/ICoSP.2012.6492015.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“Design and Test of General-Purpose SPI Master/Slave IPs on OPB Bus.”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T. Liu and Y. Wang, “IP Design of Universal Multiple Devices SPI Interface.”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J. Qiang, Y. Gu and G. Chen, “FPGA Implementation of SPI Bus Communication Based on State Machine Method,” Journal of Physics: Conference Series, vol. 1449, 012027, 2020, DOI: 10.1088/1742-6596/1449/1/012027.</a:t>
            </a:r>
            <a:endParaRPr lang="en-US" sz="1800" dirty="0"/>
          </a:p>
          <a:p>
            <a:pPr algn="l" marL="365760" indent="-365760">
              <a:lnSpc>
                <a:spcPct val="1000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D. Wang, J. Yan and Y. Qiao, “Design and Verification of SPI Bus IP Core,” Journal of Physics: Conference Series, vol. 1971, 012032, 2021, DOI: 10.1088/1742-6596/1971/1/012032.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0535" y="6096099"/>
            <a:ext cx="99375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84" y="1676400"/>
            <a:ext cx="10864578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634984" y="2794000"/>
            <a:ext cx="1086457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EEBD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30192" y="3581400"/>
            <a:ext cx="114741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Mohammad Yasir · Paladugula Ajay Kumar · Palreddigari Navadeep Kumar Reddy · Lokesha NN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4984" y="4013200"/>
            <a:ext cx="1092172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B.M.S. College of Engineering, Bengaluru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of Electronics &amp; Communication Engineering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Guide: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Mr. Ajay Kumar D · Assistant Professor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rot="8400">
            <a:off x="1650959" y="5257800"/>
            <a:ext cx="8889778" cy="25400"/>
          </a:xfrm>
          <a:prstGeom prst="rect">
            <a:avLst/>
          </a:prstGeom>
          <a:solidFill>
            <a:srgbClr val="3EEBD0"/>
          </a:solidFill>
          <a:ln/>
        </p:spPr>
      </p:sp>
      <p:sp>
        <p:nvSpPr>
          <p:cNvPr id="8" name="Text 5"/>
          <p:cNvSpPr/>
          <p:nvPr/>
        </p:nvSpPr>
        <p:spPr>
          <a:xfrm>
            <a:off x="330192" y="5435600"/>
            <a:ext cx="115313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MASTER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─── SCLK ─── MOSI ─── MISO ─── CS ───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EBD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SLAVE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0192" y="6388199"/>
            <a:ext cx="1147416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FB3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Parameterized SPI IP Core · BMSCE ECE · 2026–27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2026-09-23T18:08:02Z</dcterms:created>
  <dcterms:modified xsi:type="dcterms:W3CDTF">2026-09-23T18:08:02Z</dcterms:modified>
</cp:coreProperties>
</file>